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914400"/>
            <a:ext cx="10728655" cy="502920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88720" y="1371600"/>
            <a:ext cx="2926080" cy="411480"/>
          </a:xfrm>
          <a:prstGeom prst="roundRect">
            <a:avLst/>
          </a:prstGeom>
          <a:solidFill>
            <a:srgbClr val="002D3C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t>⚡ NEXT-GEN REGULATORY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92024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FINRA AI Real-Time Fraud Detection</a:t>
            </a:r>
          </a:p>
          <a:p>
            <a:pPr>
              <a:spcBef>
                <a:spcPts val="800"/>
              </a:spcBef>
              <a:defRPr sz="2000">
                <a:solidFill>
                  <a:srgbClr val="00D4FF"/>
                </a:solidFill>
              </a:defRPr>
            </a:pPr>
            <a:r>
              <a:t>Enterprise Market Surveillance &amp; Manipulation Intercept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3931920"/>
            <a:ext cx="2331720" cy="1554480"/>
          </a:xfrm>
          <a:prstGeom prst="roundRect">
            <a:avLst/>
          </a:prstGeom>
          <a:solidFill>
            <a:srgbClr val="0F162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t>SUB-2MS LATENCY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t>Real-Time Scoring</a:t>
            </a:r>
          </a:p>
          <a:p>
            <a:pPr>
              <a:spcBef>
                <a:spcPts val="400"/>
              </a:spcBef>
              <a:defRPr sz="850">
                <a:solidFill>
                  <a:srgbClr val="94A3B8"/>
                </a:solidFill>
              </a:defRPr>
            </a:pPr>
            <a:r>
              <a:t>Ultra-low latency streaming inference on high-frequency order book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85032" y="3931920"/>
            <a:ext cx="2331720" cy="1554480"/>
          </a:xfrm>
          <a:prstGeom prst="roundRect">
            <a:avLst/>
          </a:prstGeom>
          <a:solidFill>
            <a:srgbClr val="0F1629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defRPr sz="1100" b="1">
                <a:solidFill>
                  <a:srgbClr val="A855F7"/>
                </a:solidFill>
              </a:defRPr>
            </a:pPr>
            <a:r>
              <a:t>3-MODEL ENSEMBLE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t>Supervised + Unsupervised</a:t>
            </a:r>
          </a:p>
          <a:p>
            <a:pPr>
              <a:spcBef>
                <a:spcPts val="400"/>
              </a:spcBef>
              <a:defRPr sz="850">
                <a:solidFill>
                  <a:srgbClr val="94A3B8"/>
                </a:solidFill>
              </a:defRPr>
            </a:pPr>
            <a:r>
              <a:t>XGBoost (60%) + Isolation Forest (20%) + Deep Autoencoder (20%).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3931920"/>
            <a:ext cx="2331720" cy="1554480"/>
          </a:xfrm>
          <a:prstGeom prst="roundRect">
            <a:avLst/>
          </a:prstGeom>
          <a:solidFill>
            <a:srgbClr val="0F162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MEDALLION LAKEHOUSE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t>Delta Lake Architecture</a:t>
            </a:r>
          </a:p>
          <a:p>
            <a:pPr>
              <a:spcBef>
                <a:spcPts val="400"/>
              </a:spcBef>
              <a:defRPr sz="850">
                <a:solidFill>
                  <a:srgbClr val="94A3B8"/>
                </a:solidFill>
              </a:defRPr>
            </a:pPr>
            <a:r>
              <a:t>Bronze (Raw Stream) ➔ Silver (Clean Enums) ➔ Gold (Feature Store).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77656" y="3931920"/>
            <a:ext cx="2331720" cy="1554480"/>
          </a:xfrm>
          <a:prstGeom prst="roundRect">
            <a:avLst/>
          </a:prstGeom>
          <a:solidFill>
            <a:srgbClr val="0F1629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defRPr sz="1100" b="1">
                <a:solidFill>
                  <a:srgbClr val="3B82F6"/>
                </a:solidFill>
              </a:defRPr>
            </a:pPr>
            <a:r>
              <a:t>ENTERPRISE STACK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t>Azure + Databricks + MLflow</a:t>
            </a:r>
          </a:p>
          <a:p>
            <a:pPr>
              <a:spcBef>
                <a:spcPts val="400"/>
              </a:spcBef>
              <a:defRPr sz="850">
                <a:solidFill>
                  <a:srgbClr val="94A3B8"/>
                </a:solidFill>
              </a:defRPr>
            </a:pPr>
            <a:r>
              <a:t>Fully automated cloud infrastructure with Azure Logic App alerts.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MARKET CHALLENGES VS AI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Problem &amp; Our Modern AI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How traditional batch monitoring fails and how our real-time ensemble solves market manipulation.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4663440"/>
          </a:xfrm>
          <a:prstGeom prst="roundRect">
            <a:avLst/>
          </a:prstGeom>
          <a:solidFill>
            <a:srgbClr val="18101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🚨 THE PROBLEM: Market Manipulation Epidemic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• T+1 Delayed Batch Analysis: 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Traditional compliance checks run overnight (T+1). By the time fraud is identified, malicious actors have already extracted millions and exited.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• Spoofing &amp; Phantom Orders: 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Manipulators place massive fake orders to skew order book depth, then cancel them in milliseconds before execution.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• Wash Trading &amp; Self-Dealing: 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Collusive traders trade back-and-forth between puppet accounts to create artificial volume and attract retail liquidity.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• Complex Layering Attacks: 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Multi-layered orders on both bid/ask sides create synthetic price momentum, evading simple static threshold rules.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45920"/>
            <a:ext cx="5166360" cy="4663440"/>
          </a:xfrm>
          <a:prstGeom prst="roundRect">
            <a:avLst/>
          </a:prstGeom>
          <a:solidFill>
            <a:srgbClr val="0C1C2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🛡️ OUR SOLUTION: Real-Time AI Intelligence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✔ Sub-2ms Live Stream Intercept: 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Event Hubs + Spark Structured Streaming processes orders the instant they hit the order book, preventing damage before settlement.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✔ 3-Model AI Hybrid Ensemble: 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Combines XGBoost (Supervised 60%) + Isolation Forest (20%) + Deep Autoencoder (20%) for known and zero-day anomaly capture.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✔ Dynamic Rolling Feature Engineering: 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Computes real-time Cancel-to-Trade ratios, Volume Spike Z-Scores, and Order-Flow Imbalances over rolling windows.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✔ Automated High-Risk Logic Alerts: 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Triggers automated Azure Logic App webhooks and instant compliance notifications when risk score exceeds 85%.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ARCHITECTURE CHOICES &amp; TRADE-OFF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Enterprise Tech Stack &amp; Why We Chose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Detailed evaluation of every selected technology vs industry alternatives.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01568" cy="214884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50" b="1">
                <a:solidFill>
                  <a:srgbClr val="00D4FF"/>
                </a:solidFill>
              </a:defRPr>
            </a:pPr>
            <a:r>
              <a:t>⭐ SELECTED: AZURE EVENT HUBS</a:t>
            </a:r>
          </a:p>
          <a:p>
            <a:pPr>
              <a:spcBef>
                <a:spcPts val="300"/>
              </a:spcBef>
              <a:defRPr sz="950" b="1">
                <a:solidFill>
                  <a:srgbClr val="94A3B8"/>
                </a:solidFill>
              </a:defRPr>
            </a:pPr>
            <a:r>
              <a:t>❌ Alternatives: KAFKA / RABBITMQ</a:t>
            </a:r>
          </a:p>
          <a:p>
            <a:pPr>
              <a:spcBef>
                <a:spcPts val="400"/>
              </a:spcBef>
              <a:defRPr sz="900">
                <a:solidFill>
                  <a:srgbClr val="FFFFFF"/>
                </a:solidFill>
              </a:defRPr>
            </a:pPr>
            <a:r>
              <a:t>💡 Rationale: Native Azure IAM security, Kafka protocol support without cluster management overhead, auto-inflate scaling.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1688" y="1737360"/>
            <a:ext cx="3401568" cy="214884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50" b="1">
                <a:solidFill>
                  <a:srgbClr val="A855F7"/>
                </a:solidFill>
              </a:defRPr>
            </a:pPr>
            <a:r>
              <a:t>⭐ SELECTED: AZURE DATABRICKS</a:t>
            </a:r>
          </a:p>
          <a:p>
            <a:pPr>
              <a:spcBef>
                <a:spcPts val="300"/>
              </a:spcBef>
              <a:defRPr sz="950" b="1">
                <a:solidFill>
                  <a:srgbClr val="94A3B8"/>
                </a:solidFill>
              </a:defRPr>
            </a:pPr>
            <a:r>
              <a:t>❌ Alternatives: AWS EMR / FLINK</a:t>
            </a:r>
          </a:p>
          <a:p>
            <a:pPr>
              <a:spcBef>
                <a:spcPts val="400"/>
              </a:spcBef>
              <a:defRPr sz="900">
                <a:solidFill>
                  <a:srgbClr val="FFFFFF"/>
                </a:solidFill>
              </a:defRPr>
            </a:pPr>
            <a:r>
              <a:t>💡 Rationale: Optimized Photon engine (4x faster Spark), native Unity Catalog governance, serverless compute with scale-to-zero.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91856" y="1737360"/>
            <a:ext cx="3401568" cy="214884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50" b="1">
                <a:solidFill>
                  <a:srgbClr val="10B981"/>
                </a:solidFill>
              </a:defRPr>
            </a:pPr>
            <a:r>
              <a:t>⭐ SELECTED: DELTA LAKE (MEDALLION)</a:t>
            </a:r>
          </a:p>
          <a:p>
            <a:pPr>
              <a:spcBef>
                <a:spcPts val="300"/>
              </a:spcBef>
              <a:defRPr sz="950" b="1">
                <a:solidFill>
                  <a:srgbClr val="94A3B8"/>
                </a:solidFill>
              </a:defRPr>
            </a:pPr>
            <a:r>
              <a:t>❌ Alternatives: PLAIN PARQUET / RDBMS</a:t>
            </a:r>
          </a:p>
          <a:p>
            <a:pPr>
              <a:spcBef>
                <a:spcPts val="400"/>
              </a:spcBef>
              <a:defRPr sz="900">
                <a:solidFill>
                  <a:srgbClr val="FFFFFF"/>
                </a:solidFill>
              </a:defRPr>
            </a:pPr>
            <a:r>
              <a:t>💡 Rationale: ACID transactions on object storage, Time Travel auditability, schema enforcement, zero concurrency conflicts.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3401568" cy="214884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50" b="1">
                <a:solidFill>
                  <a:srgbClr val="3B82F6"/>
                </a:solidFill>
              </a:defRPr>
            </a:pPr>
            <a:r>
              <a:t>⭐ SELECTED: MLFLOW REGISTRY</a:t>
            </a:r>
          </a:p>
          <a:p>
            <a:pPr>
              <a:spcBef>
                <a:spcPts val="300"/>
              </a:spcBef>
              <a:defRPr sz="950" b="1">
                <a:solidFill>
                  <a:srgbClr val="94A3B8"/>
                </a:solidFill>
              </a:defRPr>
            </a:pPr>
            <a:r>
              <a:t>❌ Alternatives: SAGEMAKER / WANDB</a:t>
            </a:r>
          </a:p>
          <a:p>
            <a:pPr>
              <a:spcBef>
                <a:spcPts val="400"/>
              </a:spcBef>
              <a:defRPr sz="900">
                <a:solidFill>
                  <a:srgbClr val="FFFFFF"/>
                </a:solidFill>
              </a:defRPr>
            </a:pPr>
            <a:r>
              <a:t>💡 Rationale: Zero-friction Databricks integration, automated Model Registry versioning, unified model governance, single-click serving.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4114800"/>
            <a:ext cx="3401568" cy="214884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50" b="1">
                <a:solidFill>
                  <a:srgbClr val="F59E0B"/>
                </a:solidFill>
              </a:defRPr>
            </a:pPr>
            <a:r>
              <a:t>⭐ SELECTED: XGBOOST + PYTORCH ENSEMBLE</a:t>
            </a:r>
          </a:p>
          <a:p>
            <a:pPr>
              <a:spcBef>
                <a:spcPts val="300"/>
              </a:spcBef>
              <a:defRPr sz="950" b="1">
                <a:solidFill>
                  <a:srgbClr val="94A3B8"/>
                </a:solidFill>
              </a:defRPr>
            </a:pPr>
            <a:r>
              <a:t>❌ Alternatives: STATIC HEURISTIC RULES</a:t>
            </a:r>
          </a:p>
          <a:p>
            <a:pPr>
              <a:spcBef>
                <a:spcPts val="400"/>
              </a:spcBef>
              <a:defRPr sz="900">
                <a:solidFill>
                  <a:srgbClr val="FFFFFF"/>
                </a:solidFill>
              </a:defRPr>
            </a:pPr>
            <a:r>
              <a:t>💡 Rationale: Static rules fail against evolving fraud patterns. Ensemble combines gradient boosting with deep neural reconstruction.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4114800"/>
            <a:ext cx="3401568" cy="214884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50" b="1">
                <a:solidFill>
                  <a:srgbClr val="EF4444"/>
                </a:solidFill>
              </a:defRPr>
            </a:pPr>
            <a:r>
              <a:t>⭐ SELECTED: STREAMLIT &amp; POWER BI</a:t>
            </a:r>
          </a:p>
          <a:p>
            <a:pPr>
              <a:spcBef>
                <a:spcPts val="300"/>
              </a:spcBef>
              <a:defRPr sz="950" b="1">
                <a:solidFill>
                  <a:srgbClr val="94A3B8"/>
                </a:solidFill>
              </a:defRPr>
            </a:pPr>
            <a:r>
              <a:t>❌ Alternatives: TABLEAU / GRAFANA</a:t>
            </a:r>
          </a:p>
          <a:p>
            <a:pPr>
              <a:spcBef>
                <a:spcPts val="400"/>
              </a:spcBef>
              <a:defRPr sz="900">
                <a:solidFill>
                  <a:srgbClr val="FFFFFF"/>
                </a:solidFill>
              </a:defRPr>
            </a:pPr>
            <a:r>
              <a:t>💡 Rationale: High-frequency real-time WebSocket dashboarding in Streamlit + executive enterprise drill-down reporting in Power BI.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COMPLETE PIPELINE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End-to-End System &amp; Data Flow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From live market event generation to real-time AI scoring and executive visualization.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523744" cy="448056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t>1. INGESTION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CoinGecko API &amp; Simulator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</a:defRPr>
            </a:pPr>
            <a:r>
              <a:t>Real crypto prices + 500 trader agents producing realistic market order events.</a:t>
            </a:r>
          </a:p>
          <a:p>
            <a:pPr>
              <a:spcBef>
                <a:spcPts val="1400"/>
              </a:spcBef>
              <a:defRPr sz="950" b="1">
                <a:solidFill>
                  <a:srgbClr val="00D4FF"/>
                </a:solidFill>
              </a:defRPr>
            </a:pPr>
            <a:r>
              <a:t>⚙️ Underlying Tech:</a:t>
            </a:r>
            <a:br/>
            <a:r>
              <a:t>Azure Event Hubs (Kafka Protocol, 9093)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737360"/>
            <a:ext cx="2523744" cy="448056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100" b="1">
                <a:solidFill>
                  <a:srgbClr val="A855F7"/>
                </a:solidFill>
              </a:defRPr>
            </a:pPr>
            <a:r>
              <a:t>2. MEDALLION PIPELINE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Delta Lake on ADLS Gen2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</a:defRPr>
            </a:pPr>
            <a:r>
              <a:t>Bronze (Raw Stream &amp; Audit) ➔ Silver (Clean Enums &amp; Dedup) ➔ Gold (Rolling Features &amp; Aggregates).</a:t>
            </a:r>
          </a:p>
          <a:p>
            <a:pPr>
              <a:spcBef>
                <a:spcPts val="1400"/>
              </a:spcBef>
              <a:defRPr sz="950" b="1">
                <a:solidFill>
                  <a:srgbClr val="A855F7"/>
                </a:solidFill>
              </a:defRPr>
            </a:pPr>
            <a:r>
              <a:t>⚙️ Underlying Tech:</a:t>
            </a:r>
            <a:br/>
            <a:r>
              <a:t>Databricks Spark Structured Streaming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737360"/>
            <a:ext cx="2523744" cy="448056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3. AI ENSEMBLE ENGINE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3-Model Inference Engine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</a:defRPr>
            </a:pPr>
            <a:r>
              <a:t>XGBoost Classifier (60%) + Isolation Forest (20%) + Deep PyTorch Autoencoder (20%).</a:t>
            </a:r>
          </a:p>
          <a:p>
            <a:pPr>
              <a:spcBef>
                <a:spcPts val="1400"/>
              </a:spcBef>
              <a:defRPr sz="950" b="1">
                <a:solidFill>
                  <a:srgbClr val="10B981"/>
                </a:solidFill>
              </a:defRPr>
            </a:pPr>
            <a:r>
              <a:t>⚙️ Underlying Tech:</a:t>
            </a:r>
            <a:br/>
            <a:r>
              <a:t>MLflow Registry &amp; Databricks Model Serving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33688" y="1737360"/>
            <a:ext cx="2523744" cy="448056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100" b="1">
                <a:solidFill>
                  <a:srgbClr val="3B82F6"/>
                </a:solidFill>
              </a:defRPr>
            </a:pPr>
            <a:r>
              <a:t>4. ACTION &amp; VISUALIZATION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Real-Time Terminal &amp; Alerts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</a:defRPr>
            </a:pPr>
            <a:r>
              <a:t>Multi-page real-time Streamlit surveillance terminal + Power BI interactive reports + Logic App webhooks.</a:t>
            </a:r>
          </a:p>
          <a:p>
            <a:pPr>
              <a:spcBef>
                <a:spcPts val="1400"/>
              </a:spcBef>
              <a:defRPr sz="950" b="1">
                <a:solidFill>
                  <a:srgbClr val="3B82F6"/>
                </a:solidFill>
              </a:defRPr>
            </a:pPr>
            <a:r>
              <a:t>⚙️ Underlying Tech:</a:t>
            </a:r>
            <a:br/>
            <a:r>
              <a:t>Azure Logic Apps, Streamlit, Power BI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MEDALLION DATA LAKEHOUSE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Data Evolution: Bronze ➔ Silver ➔ Gold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How raw streaming JSON is refined into validated tables and ML feature stores.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01568" cy="466344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🟫 BRONZE: RAW STREAM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Immutable Raw Storage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Format: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Unstructured escaped JSON string (`json_str`)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Metadata: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`kafka_offset`, `partition`, `kafka_enqueued_time`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Quality: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No filters applied — raw audit record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Purpose: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Regulatory audit compliance &amp; complete replayability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Delta Table: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`fraud_detection_catalog.bronze.raw_trades`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01568" cy="466344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94A3B8"/>
                </a:solidFill>
              </a:defRPr>
            </a:pPr>
            <a:r>
              <a:t>🥈 SILVER: CLEAN &amp; VALIDATED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Standardized Tabular Data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Schema: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11 strongly-typed columns (`price`, `volume`, `symbol`)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Data Quality: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Positivity validation (`price &gt; 0`, `volume &gt; 0`)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Deduplication: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10-minute watermarking drops duplicate network retries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Normalization: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Trimmed whitespace &amp; lowercase categorical enums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Delta Table: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`fraud_detection_catalog.silver.clean_trades`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401568" cy="4663440"/>
          </a:xfrm>
          <a:prstGeom prst="roundRect">
            <a:avLst/>
          </a:prstGeom>
          <a:solidFill>
            <a:srgbClr val="131A2E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EAB308"/>
                </a:solidFill>
              </a:defRPr>
            </a:pPr>
            <a:r>
              <a:t>🥇 GOLD: FEATURE STORE &amp; AGGREGATES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Analytics &amp; ML Ready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Engineered Features: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Volume Spike Ratio, Cancel-to-Trade, Layering flags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Rolling Windows: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Trader &amp; Symbol state calculated dynamically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Aggregated Tables: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`pbi_summary_kpis`, `pbi_trader_risk_profiles`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Consumption: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Feeds AI Scoring Engine, Power BI &amp; Realtime Terminal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t>• Delta Table: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</a:defRPr>
            </a:pPr>
            <a:r>
              <a:t>`fraud_detection_catalog.gold.pbi_*`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  <a:latin typeface="Arial"/>
              </a:defRPr>
            </a:pPr>
            <a:r>
              <a:t>INTERACTIVE DEMONSTRATION &amp; VALUE 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Live Production Demo &amp; 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Demonstrating sub-2ms AI surveillance in action on live streaming cryptocurrency markets.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500" b="1">
                <a:solidFill>
                  <a:srgbClr val="00D4FF"/>
                </a:solidFill>
              </a:defRPr>
            </a:pPr>
            <a:r>
              <a:t>🖥️ LIVE SURVEILLANCE TERMINAL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✔ Live Terminal Feed (http://localhost:8501)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Orders stream every 0.5s, scoring against the 3-Model Ensemble with real-time UI updates every 2 seconds.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✔ Animated Critical Fraud Banners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Instant red visual alerts for risk scores ≥ 0.85, showing exact manipulation pattern and trader ID.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✔ Crypto Asset Drill-Down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Interactive terminal for BTC, ETH, SOL, XRP, DOGE with live CoinGecko pricing and entity profiling.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✔ Model Explainability (SHAP)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Clear feature contribution breakdown showing why an order was flagged (Volume Spike, Cancel Ratio, Imbalance).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645920"/>
            <a:ext cx="4937760" cy="4663440"/>
          </a:xfrm>
          <a:prstGeom prst="roundRect">
            <a:avLst/>
          </a:prstGeom>
          <a:solidFill>
            <a:srgbClr val="121C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📈 MEASURABLE BUSINESS IMPACT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⭐ 99.4% Reduction in Detection Latency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From 24-hour T+1 batch auditing down to &lt; 2ms inline stream interception.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⭐ 88.2% Accuracy &amp; 0.954 ROC-AUC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Highly optimized XGBoost classifier with high precision (77.9%) and low false positives.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⭐ Zero-Day Anomaly Detection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Unsupervised Isolation Forest + Deep Autoencoder captures previously unseen novel manipulation attacks.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⭐ Automated Regulatory Compliance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Full audit lineage from raw Event Hubs stream to Power BI executive dashboards.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