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3.svg" ContentType="image/svg+xml"/>
  <Override PartName="/ppt/media/image26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5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grandir Bold" charset="1" panose="00000800000000000000"/>
      <p:regular r:id="rId18"/>
    </p:embeddedFont>
    <p:embeddedFont>
      <p:font typeface="Agrandir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font" Target="fonts/font18.fntdata"/><Relationship Id="rId19" Type="http://schemas.openxmlformats.org/officeDocument/2006/relationships/font" Target="fonts/font1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2.png"/><Relationship Id="rId8" Type="http://schemas.openxmlformats.org/officeDocument/2006/relationships/image" Target="../media/image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9.jpe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7.png"/><Relationship Id="rId8" Type="http://schemas.openxmlformats.org/officeDocument/2006/relationships/image" Target="../media/image8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10.jpeg"/><Relationship Id="rId5" Type="http://schemas.openxmlformats.org/officeDocument/2006/relationships/image" Target="../media/image11.jpeg"/><Relationship Id="rId6" Type="http://schemas.openxmlformats.org/officeDocument/2006/relationships/image" Target="../media/image12.png"/><Relationship Id="rId7" Type="http://schemas.openxmlformats.org/officeDocument/2006/relationships/image" Target="../media/image13.svg"/><Relationship Id="rId8" Type="http://schemas.openxmlformats.org/officeDocument/2006/relationships/image" Target="../media/image4.png"/><Relationship Id="rId9" Type="http://schemas.openxmlformats.org/officeDocument/2006/relationships/image" Target="../media/image5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14.jpeg"/><Relationship Id="rId5" Type="http://schemas.openxmlformats.org/officeDocument/2006/relationships/image" Target="../media/image15.jpeg"/><Relationship Id="rId6" Type="http://schemas.openxmlformats.org/officeDocument/2006/relationships/image" Target="../media/image16.jpeg"/><Relationship Id="rId7" Type="http://schemas.openxmlformats.org/officeDocument/2006/relationships/image" Target="../media/image4.png"/><Relationship Id="rId8" Type="http://schemas.openxmlformats.org/officeDocument/2006/relationships/image" Target="../media/image5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17.jpeg"/><Relationship Id="rId5" Type="http://schemas.openxmlformats.org/officeDocument/2006/relationships/image" Target="../media/image4.png"/><Relationship Id="rId6" Type="http://schemas.openxmlformats.org/officeDocument/2006/relationships/image" Target="../media/image5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18.jpeg"/><Relationship Id="rId5" Type="http://schemas.openxmlformats.org/officeDocument/2006/relationships/image" Target="../media/image19.jpeg"/><Relationship Id="rId6" Type="http://schemas.openxmlformats.org/officeDocument/2006/relationships/image" Target="../media/image20.jpeg"/><Relationship Id="rId7" Type="http://schemas.openxmlformats.org/officeDocument/2006/relationships/image" Target="../media/image4.png"/><Relationship Id="rId8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eg"/><Relationship Id="rId3" Type="http://schemas.openxmlformats.org/officeDocument/2006/relationships/image" Target="../media/image22.jpeg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2.png"/><Relationship Id="rId9" Type="http://schemas.openxmlformats.org/officeDocument/2006/relationships/image" Target="../media/image3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e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24.jpeg"/><Relationship Id="rId5" Type="http://schemas.openxmlformats.org/officeDocument/2006/relationships/image" Target="../media/image25.png"/><Relationship Id="rId6" Type="http://schemas.openxmlformats.org/officeDocument/2006/relationships/image" Target="../media/image26.svg"/><Relationship Id="rId7" Type="http://schemas.openxmlformats.org/officeDocument/2006/relationships/image" Target="../media/image4.png"/><Relationship Id="rId8" Type="http://schemas.openxmlformats.org/officeDocument/2006/relationships/image" Target="../media/image5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27.jpeg"/><Relationship Id="rId5" Type="http://schemas.openxmlformats.org/officeDocument/2006/relationships/image" Target="../media/image28.png"/><Relationship Id="rId6" Type="http://schemas.openxmlformats.org/officeDocument/2006/relationships/image" Target="../media/image29.svg"/><Relationship Id="rId7" Type="http://schemas.openxmlformats.org/officeDocument/2006/relationships/image" Target="../media/image30.png"/><Relationship Id="rId8" Type="http://schemas.openxmlformats.org/officeDocument/2006/relationships/image" Target="../media/image31.svg"/><Relationship Id="rId9" Type="http://schemas.openxmlformats.org/officeDocument/2006/relationships/image" Target="../media/image4.png"/><Relationship Id="rId10" Type="http://schemas.openxmlformats.org/officeDocument/2006/relationships/image" Target="../media/image5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3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39980" y="6484586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3" y="0"/>
                </a:lnTo>
                <a:lnTo>
                  <a:pt x="8513313" y="8513313"/>
                </a:lnTo>
                <a:lnTo>
                  <a:pt x="0" y="85133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165293" y="-4710899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3" y="0"/>
                </a:lnTo>
                <a:lnTo>
                  <a:pt x="8513313" y="8513313"/>
                </a:lnTo>
                <a:lnTo>
                  <a:pt x="0" y="85133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56726" y="2903880"/>
            <a:ext cx="10574548" cy="4250641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14976"/>
              </a:lnSpc>
            </a:pPr>
            <a:r>
              <a:rPr sz="8800" b="1">
                <a:solidFill>
                  <a:srgbClr val="00B4F0"/>
                </a:solidFill>
                <a:latin typeface="Agrandir"/>
              </a:rPr>
              <a:t>AI FRAUD</a:t>
            </a:r>
          </a:p>
          <a:p>
            <a:pPr algn="ctr"/>
            <a:r>
              <a:rPr sz="8800" b="1">
                <a:solidFill>
                  <a:srgbClr val="00B4F0"/>
                </a:solidFill>
                <a:latin typeface="Agrandir"/>
              </a:rPr>
              <a:t>DETECTION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8295474"/>
            <a:ext cx="320358" cy="962826"/>
          </a:xfrm>
          <a:custGeom>
            <a:avLst/>
            <a:gdLst/>
            <a:ahLst/>
            <a:cxnLst/>
            <a:rect r="r" b="b" t="t" l="l"/>
            <a:pathLst>
              <a:path h="962826" w="320358">
                <a:moveTo>
                  <a:pt x="0" y="0"/>
                </a:moveTo>
                <a:lnTo>
                  <a:pt x="320358" y="0"/>
                </a:lnTo>
                <a:lnTo>
                  <a:pt x="320358" y="962826"/>
                </a:lnTo>
                <a:lnTo>
                  <a:pt x="0" y="9628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6938942" y="1028700"/>
            <a:ext cx="320358" cy="962826"/>
          </a:xfrm>
          <a:custGeom>
            <a:avLst/>
            <a:gdLst/>
            <a:ahLst/>
            <a:cxnLst/>
            <a:rect r="r" b="b" t="t" l="l"/>
            <a:pathLst>
              <a:path h="962826" w="320358">
                <a:moveTo>
                  <a:pt x="320358" y="962826"/>
                </a:moveTo>
                <a:lnTo>
                  <a:pt x="0" y="962826"/>
                </a:lnTo>
                <a:lnTo>
                  <a:pt x="0" y="0"/>
                </a:lnTo>
                <a:lnTo>
                  <a:pt x="320358" y="0"/>
                </a:lnTo>
                <a:lnTo>
                  <a:pt x="320358" y="9628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052072" y="8778875"/>
            <a:ext cx="4183857" cy="47942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3349"/>
              </a:lnSpc>
            </a:pPr>
            <a:r>
              <a:rPr sz="1800" b="0">
                <a:solidFill>
                  <a:srgbClr val="FFFFFF"/>
                </a:solidFill>
                <a:latin typeface="Agrandir"/>
              </a:rPr>
              <a:t>FINRA / SEC REAL-TIME SURVEILLANCE &amp; FRAUD PREVENTION ENGINE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10935174" cy="10287000"/>
            <a:chOff x="0" y="0"/>
            <a:chExt cx="1270608" cy="11952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0608" cy="1195294"/>
            </a:xfrm>
            <a:custGeom>
              <a:avLst/>
              <a:gdLst/>
              <a:ahLst/>
              <a:cxnLst/>
              <a:rect r="r" b="b" t="t" l="l"/>
              <a:pathLst>
                <a:path h="1195294" w="1270608">
                  <a:moveTo>
                    <a:pt x="203200" y="0"/>
                  </a:moveTo>
                  <a:lnTo>
                    <a:pt x="1270608" y="0"/>
                  </a:lnTo>
                  <a:lnTo>
                    <a:pt x="1067408" y="1195294"/>
                  </a:lnTo>
                  <a:lnTo>
                    <a:pt x="0" y="1195294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2"/>
              <a:stretch>
                <a:fillRect l="-34212" t="-2736" r="-36987" b="-1214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5400000">
            <a:off x="1349934" y="707466"/>
            <a:ext cx="320358" cy="962826"/>
          </a:xfrm>
          <a:custGeom>
            <a:avLst/>
            <a:gdLst/>
            <a:ahLst/>
            <a:cxnLst/>
            <a:rect r="r" b="b" t="t" l="l"/>
            <a:pathLst>
              <a:path h="962826" w="320358">
                <a:moveTo>
                  <a:pt x="0" y="0"/>
                </a:moveTo>
                <a:lnTo>
                  <a:pt x="320358" y="0"/>
                </a:lnTo>
                <a:lnTo>
                  <a:pt x="320358" y="962826"/>
                </a:lnTo>
                <a:lnTo>
                  <a:pt x="0" y="9628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5400000">
            <a:off x="16617708" y="8587367"/>
            <a:ext cx="320358" cy="962826"/>
          </a:xfrm>
          <a:custGeom>
            <a:avLst/>
            <a:gdLst/>
            <a:ahLst/>
            <a:cxnLst/>
            <a:rect r="r" b="b" t="t" l="l"/>
            <a:pathLst>
              <a:path h="962826" w="320358">
                <a:moveTo>
                  <a:pt x="320358" y="962826"/>
                </a:moveTo>
                <a:lnTo>
                  <a:pt x="0" y="962826"/>
                </a:lnTo>
                <a:lnTo>
                  <a:pt x="0" y="0"/>
                </a:lnTo>
                <a:lnTo>
                  <a:pt x="320358" y="0"/>
                </a:lnTo>
                <a:lnTo>
                  <a:pt x="320358" y="96282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949696" y="9258300"/>
            <a:ext cx="6693556" cy="2227428"/>
          </a:xfrm>
          <a:custGeom>
            <a:avLst/>
            <a:gdLst/>
            <a:ahLst/>
            <a:cxnLst/>
            <a:rect r="r" b="b" t="t" l="l"/>
            <a:pathLst>
              <a:path h="2227428" w="6693556">
                <a:moveTo>
                  <a:pt x="0" y="0"/>
                </a:moveTo>
                <a:lnTo>
                  <a:pt x="6693556" y="0"/>
                </a:lnTo>
                <a:lnTo>
                  <a:pt x="6693556" y="2227428"/>
                </a:lnTo>
                <a:lnTo>
                  <a:pt x="0" y="22274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00665" y="2616649"/>
            <a:ext cx="3991181" cy="83502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5350"/>
              </a:lnSpc>
            </a:pPr>
            <a:r>
              <a:rPr sz="5000" b="0">
                <a:solidFill>
                  <a:srgbClr val="FFFFFF"/>
                </a:solidFill>
                <a:latin typeface="Agrandir"/>
              </a:rPr>
              <a:t>What is the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3227957" y="6507158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4" y="0"/>
                </a:lnTo>
                <a:lnTo>
                  <a:pt x="8513314" y="8513314"/>
                </a:lnTo>
                <a:lnTo>
                  <a:pt x="0" y="85133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8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00665" y="3375474"/>
            <a:ext cx="5187592" cy="83502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5350"/>
              </a:lnSpc>
            </a:pPr>
            <a:r>
              <a:rPr sz="5000" b="1">
                <a:solidFill>
                  <a:srgbClr val="00B4F0"/>
                </a:solidFill>
                <a:latin typeface="Agrandir"/>
              </a:rPr>
              <a:t>FINRA AI Platform?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00665" y="4691312"/>
            <a:ext cx="6512190" cy="126339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12"/>
              </a:lnSpc>
            </a:pPr>
            <a:r>
              <a:rPr sz="1700" b="0">
                <a:solidFill>
                  <a:srgbClr val="FFFFFF"/>
                </a:solidFill>
                <a:latin typeface="Agrandir"/>
              </a:rPr>
              <a:t>An enterprise-grade real-time market surveillance platform built to detect and intercept predatory financial crimes across equity and crypto exchanges before trades settle.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00665" y="6330755"/>
            <a:ext cx="6512190" cy="126339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12"/>
              </a:lnSpc>
            </a:pPr>
            <a:r>
              <a:rPr sz="1700" b="0">
                <a:solidFill>
                  <a:srgbClr val="FFFFFF"/>
                </a:solidFill>
                <a:latin typeface="Agrandir"/>
              </a:rPr>
              <a:t>Replaces outdated reactive next-day T+1 batch auditing with a continuous streaming tri-brid AI pipeline operating at &lt;0.42 millisecond latency to protect retail investor capital and ensure market integrity.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41534" y="5720752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4" y="0"/>
                </a:lnTo>
                <a:lnTo>
                  <a:pt x="8513314" y="8513313"/>
                </a:lnTo>
                <a:lnTo>
                  <a:pt x="0" y="851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038765" y="0"/>
            <a:ext cx="10935174" cy="10287000"/>
            <a:chOff x="0" y="0"/>
            <a:chExt cx="1270608" cy="11952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70608" cy="1195294"/>
            </a:xfrm>
            <a:custGeom>
              <a:avLst/>
              <a:gdLst/>
              <a:ahLst/>
              <a:cxnLst/>
              <a:rect r="r" b="b" t="t" l="l"/>
              <a:pathLst>
                <a:path h="1195294" w="1270608">
                  <a:moveTo>
                    <a:pt x="203200" y="0"/>
                  </a:moveTo>
                  <a:lnTo>
                    <a:pt x="1270608" y="0"/>
                  </a:lnTo>
                  <a:lnTo>
                    <a:pt x="1067408" y="1195294"/>
                  </a:lnTo>
                  <a:lnTo>
                    <a:pt x="0" y="1195294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4"/>
              <a:stretch>
                <a:fillRect l="0" t="-728" r="0" b="-58822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861052" y="1939388"/>
            <a:ext cx="4909853" cy="83502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5350"/>
              </a:lnSpc>
            </a:pPr>
            <a:r>
              <a:rPr sz="5000" b="0">
                <a:solidFill>
                  <a:srgbClr val="FFFFFF"/>
                </a:solidFill>
                <a:latin typeface="Agrandir"/>
              </a:rPr>
              <a:t>Evolution of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61052" y="2698214"/>
            <a:ext cx="5187592" cy="83502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5350"/>
              </a:lnSpc>
            </a:pPr>
            <a:r>
              <a:rPr sz="5000" b="1">
                <a:solidFill>
                  <a:srgbClr val="00B4F0"/>
                </a:solidFill>
                <a:latin typeface="Agrandir"/>
              </a:rPr>
              <a:t>Surveillance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61052" y="6810717"/>
            <a:ext cx="2153835" cy="3835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679"/>
              </a:lnSpc>
            </a:pPr>
            <a:r>
              <a:rPr sz="1800" b="1">
                <a:solidFill>
                  <a:srgbClr val="00B4F0"/>
                </a:solidFill>
                <a:latin typeface="Agrandir"/>
              </a:rPr>
              <a:t>From T+1 to Real-Time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61052" y="7312816"/>
            <a:ext cx="6533357" cy="95859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2412"/>
              </a:lnSpc>
            </a:pPr>
            <a:r>
              <a:rPr sz="1600" b="0">
                <a:solidFill>
                  <a:srgbClr val="FFFFFF"/>
                </a:solidFill>
                <a:latin typeface="Agrandir"/>
              </a:rPr>
              <a:t>Traditional surveillance relied on next-day T+1 batch files and rigid SQL rules (e.g. volume &gt; threshold), leaving a 24-hour blind spot where bad actors easily laundered illicit trading profits before detection.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61052" y="5050954"/>
            <a:ext cx="6533357" cy="126339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2412"/>
              </a:lnSpc>
            </a:pPr>
            <a:r>
              <a:rPr sz="1600" b="0">
                <a:solidFill>
                  <a:srgbClr val="FFFFFF"/>
                </a:solidFill>
                <a:latin typeface="Agrandir"/>
              </a:rPr>
              <a:t>Our modern architecture ingests live order feeds directly into a Medallion Delta Lakehouse via Azure Event Hubs, executing continuous sub-millisecond AI inference at the order book level.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28700" y="8295474"/>
            <a:ext cx="320358" cy="962826"/>
          </a:xfrm>
          <a:custGeom>
            <a:avLst/>
            <a:gdLst/>
            <a:ahLst/>
            <a:cxnLst/>
            <a:rect r="r" b="b" t="t" l="l"/>
            <a:pathLst>
              <a:path h="962826" w="320358">
                <a:moveTo>
                  <a:pt x="0" y="0"/>
                </a:moveTo>
                <a:lnTo>
                  <a:pt x="320358" y="0"/>
                </a:lnTo>
                <a:lnTo>
                  <a:pt x="320358" y="962826"/>
                </a:lnTo>
                <a:lnTo>
                  <a:pt x="0" y="9628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6938942" y="1028700"/>
            <a:ext cx="320358" cy="962826"/>
          </a:xfrm>
          <a:custGeom>
            <a:avLst/>
            <a:gdLst/>
            <a:ahLst/>
            <a:cxnLst/>
            <a:rect r="r" b="b" t="t" l="l"/>
            <a:pathLst>
              <a:path h="962826" w="320358">
                <a:moveTo>
                  <a:pt x="320358" y="962826"/>
                </a:moveTo>
                <a:lnTo>
                  <a:pt x="0" y="962826"/>
                </a:lnTo>
                <a:lnTo>
                  <a:pt x="0" y="0"/>
                </a:lnTo>
                <a:lnTo>
                  <a:pt x="320358" y="0"/>
                </a:lnTo>
                <a:lnTo>
                  <a:pt x="320358" y="9628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49058" y="-1198728"/>
            <a:ext cx="6693556" cy="2227428"/>
          </a:xfrm>
          <a:custGeom>
            <a:avLst/>
            <a:gdLst/>
            <a:ahLst/>
            <a:cxnLst/>
            <a:rect r="r" b="b" t="t" l="l"/>
            <a:pathLst>
              <a:path h="2227428" w="6693556">
                <a:moveTo>
                  <a:pt x="0" y="0"/>
                </a:moveTo>
                <a:lnTo>
                  <a:pt x="6693556" y="0"/>
                </a:lnTo>
                <a:lnTo>
                  <a:pt x="6693556" y="2227428"/>
                </a:lnTo>
                <a:lnTo>
                  <a:pt x="0" y="22274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50612" y="5825329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3" y="0"/>
                </a:lnTo>
                <a:lnTo>
                  <a:pt x="8513313" y="8513314"/>
                </a:lnTo>
                <a:lnTo>
                  <a:pt x="0" y="851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25299" y="-4051643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3" y="0"/>
                </a:lnTo>
                <a:lnTo>
                  <a:pt x="8513313" y="8513314"/>
                </a:lnTo>
                <a:lnTo>
                  <a:pt x="0" y="851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73520" y="3864588"/>
            <a:ext cx="4075816" cy="4982626"/>
            <a:chOff x="0" y="0"/>
            <a:chExt cx="631451" cy="7719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1451" cy="771939"/>
            </a:xfrm>
            <a:custGeom>
              <a:avLst/>
              <a:gdLst/>
              <a:ahLst/>
              <a:cxnLst/>
              <a:rect r="r" b="b" t="t" l="l"/>
              <a:pathLst>
                <a:path h="771939" w="631451">
                  <a:moveTo>
                    <a:pt x="0" y="0"/>
                  </a:moveTo>
                  <a:lnTo>
                    <a:pt x="631451" y="0"/>
                  </a:lnTo>
                  <a:lnTo>
                    <a:pt x="631451" y="771939"/>
                  </a:lnTo>
                  <a:lnTo>
                    <a:pt x="0" y="771939"/>
                  </a:lnTo>
                  <a:close/>
                </a:path>
              </a:pathLst>
            </a:custGeom>
            <a:blipFill>
              <a:blip r:embed="rId4"/>
              <a:stretch>
                <a:fillRect l="-43790" t="0" r="-7354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086526" y="3864588"/>
            <a:ext cx="4075816" cy="4982626"/>
            <a:chOff x="0" y="0"/>
            <a:chExt cx="631451" cy="7719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1451" cy="771939"/>
            </a:xfrm>
            <a:custGeom>
              <a:avLst/>
              <a:gdLst/>
              <a:ahLst/>
              <a:cxnLst/>
              <a:rect r="r" b="b" t="t" l="l"/>
              <a:pathLst>
                <a:path h="771939" w="631451">
                  <a:moveTo>
                    <a:pt x="0" y="0"/>
                  </a:moveTo>
                  <a:lnTo>
                    <a:pt x="631451" y="0"/>
                  </a:lnTo>
                  <a:lnTo>
                    <a:pt x="631451" y="771939"/>
                  </a:lnTo>
                  <a:lnTo>
                    <a:pt x="0" y="771939"/>
                  </a:lnTo>
                  <a:close/>
                </a:path>
              </a:pathLst>
            </a:custGeom>
            <a:blipFill>
              <a:blip r:embed="rId5"/>
              <a:stretch>
                <a:fillRect l="-42196" t="0" r="-7513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40529" y="5817433"/>
            <a:ext cx="1142068" cy="1102877"/>
            <a:chOff x="0" y="0"/>
            <a:chExt cx="300791" cy="2904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0791" cy="290470"/>
            </a:xfrm>
            <a:custGeom>
              <a:avLst/>
              <a:gdLst/>
              <a:ahLst/>
              <a:cxnLst/>
              <a:rect r="r" b="b" t="t" l="l"/>
              <a:pathLst>
                <a:path h="290470" w="300791">
                  <a:moveTo>
                    <a:pt x="0" y="0"/>
                  </a:moveTo>
                  <a:lnTo>
                    <a:pt x="300791" y="0"/>
                  </a:lnTo>
                  <a:lnTo>
                    <a:pt x="300791" y="290470"/>
                  </a:lnTo>
                  <a:lnTo>
                    <a:pt x="0" y="290470"/>
                  </a:lnTo>
                  <a:close/>
                </a:path>
              </a:pathLst>
            </a:custGeom>
            <a:solidFill>
              <a:srgbClr val="00B4F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300791" cy="37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526219" y="6084077"/>
            <a:ext cx="770689" cy="569588"/>
          </a:xfrm>
          <a:custGeom>
            <a:avLst/>
            <a:gdLst/>
            <a:ahLst/>
            <a:cxnLst/>
            <a:rect r="r" b="b" t="t" l="l"/>
            <a:pathLst>
              <a:path h="569588" w="770689">
                <a:moveTo>
                  <a:pt x="0" y="0"/>
                </a:moveTo>
                <a:lnTo>
                  <a:pt x="770688" y="0"/>
                </a:lnTo>
                <a:lnTo>
                  <a:pt x="770688" y="569588"/>
                </a:lnTo>
                <a:lnTo>
                  <a:pt x="0" y="5695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689073" y="1633883"/>
            <a:ext cx="4909853" cy="83502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5350"/>
              </a:lnSpc>
            </a:pPr>
            <a:r>
              <a:rPr sz="5000" b="0">
                <a:solidFill>
                  <a:srgbClr val="FFFFFF"/>
                </a:solidFill>
                <a:latin typeface="Agrandir"/>
              </a:rPr>
              <a:t>How the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07204" y="2392708"/>
            <a:ext cx="7473592" cy="83502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5350"/>
              </a:lnSpc>
            </a:pPr>
            <a:r>
              <a:rPr sz="5000" b="1">
                <a:solidFill>
                  <a:srgbClr val="00B4F0"/>
                </a:solidFill>
                <a:latin typeface="Agrandir"/>
              </a:rPr>
              <a:t>AI Engine Works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00496" y="4546380"/>
            <a:ext cx="2153835" cy="3835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679"/>
              </a:lnSpc>
            </a:pPr>
            <a:r>
              <a:rPr sz="1800" b="1">
                <a:solidFill>
                  <a:srgbClr val="00B4F0"/>
                </a:solidFill>
                <a:latin typeface="Agrandir"/>
              </a:rPr>
              <a:t>Streaming Pipeline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00496" y="4981803"/>
            <a:ext cx="5913984" cy="95859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12"/>
              </a:lnSpc>
            </a:pPr>
            <a:r>
              <a:rPr sz="1600" b="0">
                <a:solidFill>
                  <a:srgbClr val="FFFFFF"/>
                </a:solidFill>
                <a:latin typeface="Agrandir"/>
              </a:rPr>
              <a:t>Live Level-2 order book feeds stream into Apache Spark via Azure Event Hubs, where 15 rolling mathematical features are extracted in under 0.15ms per transaction.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00496" y="6685677"/>
            <a:ext cx="2153835" cy="3835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679"/>
              </a:lnSpc>
            </a:pPr>
            <a:r>
              <a:rPr sz="1800" b="1">
                <a:solidFill>
                  <a:srgbClr val="00B4F0"/>
                </a:solidFill>
                <a:latin typeface="Agrandir"/>
              </a:rPr>
              <a:t>Scoring &amp; Alerts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00496" y="7121100"/>
            <a:ext cx="5913984" cy="95859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12"/>
              </a:lnSpc>
            </a:pPr>
            <a:r>
              <a:rPr sz="1600" b="0">
                <a:solidFill>
                  <a:srgbClr val="FFFFFF"/>
                </a:solidFill>
                <a:latin typeface="Agrandir"/>
              </a:rPr>
              <a:t>The ensemble computes a composite fraud probability (&lt;0.42ms). Scores &gt;=0.70 trigger automated Logic Apps circuit breakers and escalate to compliance officers instantly.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5400000">
            <a:off x="1349934" y="707466"/>
            <a:ext cx="320358" cy="962826"/>
          </a:xfrm>
          <a:custGeom>
            <a:avLst/>
            <a:gdLst/>
            <a:ahLst/>
            <a:cxnLst/>
            <a:rect r="r" b="b" t="t" l="l"/>
            <a:pathLst>
              <a:path h="962826" w="320358">
                <a:moveTo>
                  <a:pt x="0" y="0"/>
                </a:moveTo>
                <a:lnTo>
                  <a:pt x="320358" y="0"/>
                </a:lnTo>
                <a:lnTo>
                  <a:pt x="320358" y="962826"/>
                </a:lnTo>
                <a:lnTo>
                  <a:pt x="0" y="9628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true" rot="5400000">
            <a:off x="16617708" y="8587367"/>
            <a:ext cx="320358" cy="962826"/>
          </a:xfrm>
          <a:custGeom>
            <a:avLst/>
            <a:gdLst/>
            <a:ahLst/>
            <a:cxnLst/>
            <a:rect r="r" b="b" t="t" l="l"/>
            <a:pathLst>
              <a:path h="962826" w="320358">
                <a:moveTo>
                  <a:pt x="320358" y="962826"/>
                </a:moveTo>
                <a:lnTo>
                  <a:pt x="0" y="962826"/>
                </a:lnTo>
                <a:lnTo>
                  <a:pt x="0" y="0"/>
                </a:lnTo>
                <a:lnTo>
                  <a:pt x="320358" y="0"/>
                </a:lnTo>
                <a:lnTo>
                  <a:pt x="320358" y="962826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39980" y="6484586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3" y="0"/>
                </a:lnTo>
                <a:lnTo>
                  <a:pt x="8513313" y="8513313"/>
                </a:lnTo>
                <a:lnTo>
                  <a:pt x="0" y="851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165293" y="-4710899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3" y="0"/>
                </a:lnTo>
                <a:lnTo>
                  <a:pt x="8513313" y="8513313"/>
                </a:lnTo>
                <a:lnTo>
                  <a:pt x="0" y="851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83298" y="3700120"/>
            <a:ext cx="4192677" cy="3944160"/>
            <a:chOff x="0" y="0"/>
            <a:chExt cx="1270608" cy="11952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70608" cy="1195294"/>
            </a:xfrm>
            <a:custGeom>
              <a:avLst/>
              <a:gdLst/>
              <a:ahLst/>
              <a:cxnLst/>
              <a:rect r="r" b="b" t="t" l="l"/>
              <a:pathLst>
                <a:path h="1195294" w="1270608">
                  <a:moveTo>
                    <a:pt x="203200" y="0"/>
                  </a:moveTo>
                  <a:lnTo>
                    <a:pt x="1270608" y="0"/>
                  </a:lnTo>
                  <a:lnTo>
                    <a:pt x="1067408" y="1195294"/>
                  </a:lnTo>
                  <a:lnTo>
                    <a:pt x="0" y="1195294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4"/>
              <a:stretch>
                <a:fillRect l="-23807" t="0" r="-4343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047773" y="3700120"/>
            <a:ext cx="4192677" cy="3944160"/>
            <a:chOff x="0" y="0"/>
            <a:chExt cx="1270608" cy="11952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0608" cy="1195294"/>
            </a:xfrm>
            <a:custGeom>
              <a:avLst/>
              <a:gdLst/>
              <a:ahLst/>
              <a:cxnLst/>
              <a:rect r="r" b="b" t="t" l="l"/>
              <a:pathLst>
                <a:path h="1195294" w="1270608">
                  <a:moveTo>
                    <a:pt x="203200" y="0"/>
                  </a:moveTo>
                  <a:lnTo>
                    <a:pt x="1270608" y="0"/>
                  </a:lnTo>
                  <a:lnTo>
                    <a:pt x="1067408" y="1195294"/>
                  </a:lnTo>
                  <a:lnTo>
                    <a:pt x="0" y="1195294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5"/>
              <a:stretch>
                <a:fillRect l="-20598" t="0" r="-2059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412025" y="3700120"/>
            <a:ext cx="4192677" cy="3944160"/>
            <a:chOff x="0" y="0"/>
            <a:chExt cx="1270608" cy="11952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70608" cy="1195294"/>
            </a:xfrm>
            <a:custGeom>
              <a:avLst/>
              <a:gdLst/>
              <a:ahLst/>
              <a:cxnLst/>
              <a:rect r="r" b="b" t="t" l="l"/>
              <a:pathLst>
                <a:path h="1195294" w="1270608">
                  <a:moveTo>
                    <a:pt x="203200" y="0"/>
                  </a:moveTo>
                  <a:lnTo>
                    <a:pt x="1270608" y="0"/>
                  </a:lnTo>
                  <a:lnTo>
                    <a:pt x="1067408" y="1195294"/>
                  </a:lnTo>
                  <a:lnTo>
                    <a:pt x="0" y="1195294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6"/>
              <a:stretch>
                <a:fillRect l="-32476" t="0" r="-872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689073" y="2169781"/>
            <a:ext cx="4909853" cy="83502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5350"/>
              </a:lnSpc>
            </a:pPr>
            <a:r>
              <a:rPr sz="5000" b="0">
                <a:solidFill>
                  <a:srgbClr val="FFFFFF"/>
                </a:solidFill>
                <a:latin typeface="Agrandir"/>
              </a:rPr>
              <a:t>Key Threats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98587" y="1381125"/>
            <a:ext cx="6490825" cy="83502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5350"/>
              </a:lnSpc>
            </a:pPr>
            <a:r>
              <a:rPr sz="5000" b="1">
                <a:solidFill>
                  <a:srgbClr val="00B4F0"/>
                </a:solidFill>
                <a:latin typeface="Agrandir"/>
              </a:rPr>
              <a:t>Market Manipulation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02719" y="8076504"/>
            <a:ext cx="2153835" cy="3835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2679"/>
              </a:lnSpc>
            </a:pPr>
            <a:r>
              <a:rPr sz="1800" b="1">
                <a:solidFill>
                  <a:srgbClr val="00B4F0"/>
                </a:solidFill>
                <a:latin typeface="Agrandir"/>
              </a:rPr>
              <a:t>Spoofing &amp; Layering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02719" y="8446977"/>
            <a:ext cx="2153835" cy="34899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2412"/>
              </a:lnSpc>
            </a:pPr>
            <a:r>
              <a:rPr sz="1500" b="0">
                <a:solidFill>
                  <a:srgbClr val="FFFFFF"/>
                </a:solidFill>
                <a:latin typeface="Agrandir"/>
              </a:rPr>
              <a:t>Non-bona fide orders placed to shift order book depth, cancelled in &lt;50ms.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43764" y="8076504"/>
            <a:ext cx="3200695" cy="3835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2679"/>
              </a:lnSpc>
            </a:pPr>
            <a:r>
              <a:rPr sz="1800" b="1">
                <a:solidFill>
                  <a:srgbClr val="00B4F0"/>
                </a:solidFill>
                <a:latin typeface="Agrandir"/>
              </a:rPr>
              <a:t>Wash Trading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43764" y="8446977"/>
            <a:ext cx="3200695" cy="34899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2412"/>
              </a:lnSpc>
            </a:pPr>
            <a:r>
              <a:rPr sz="1500" b="0">
                <a:solidFill>
                  <a:srgbClr val="FFFFFF"/>
                </a:solidFill>
                <a:latin typeface="Agrandir"/>
              </a:rPr>
              <a:t>Colluding accounts trading with themselves to fabricate artificial volume.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31446" y="8076504"/>
            <a:ext cx="2153835" cy="3835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2679"/>
              </a:lnSpc>
            </a:pPr>
            <a:r>
              <a:rPr sz="1800" b="1">
                <a:solidFill>
                  <a:srgbClr val="00B4F0"/>
                </a:solidFill>
                <a:latin typeface="Agrandir"/>
              </a:rPr>
              <a:t>Pump &amp; Dump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31446" y="8446977"/>
            <a:ext cx="2153835" cy="34899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2412"/>
              </a:lnSpc>
            </a:pPr>
            <a:r>
              <a:rPr sz="1500" b="0">
                <a:solidFill>
                  <a:srgbClr val="FFFFFF"/>
                </a:solidFill>
                <a:latin typeface="Agrandir"/>
              </a:rPr>
              <a:t>Aggressive volume bursts elevating prices before dumping onto retail buyers.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28700" y="8295474"/>
            <a:ext cx="320358" cy="962826"/>
          </a:xfrm>
          <a:custGeom>
            <a:avLst/>
            <a:gdLst/>
            <a:ahLst/>
            <a:cxnLst/>
            <a:rect r="r" b="b" t="t" l="l"/>
            <a:pathLst>
              <a:path h="962826" w="320358">
                <a:moveTo>
                  <a:pt x="0" y="0"/>
                </a:moveTo>
                <a:lnTo>
                  <a:pt x="320358" y="0"/>
                </a:lnTo>
                <a:lnTo>
                  <a:pt x="320358" y="962826"/>
                </a:lnTo>
                <a:lnTo>
                  <a:pt x="0" y="9628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true" rot="0">
            <a:off x="16938942" y="1028700"/>
            <a:ext cx="320358" cy="962826"/>
          </a:xfrm>
          <a:custGeom>
            <a:avLst/>
            <a:gdLst/>
            <a:ahLst/>
            <a:cxnLst/>
            <a:rect r="r" b="b" t="t" l="l"/>
            <a:pathLst>
              <a:path h="962826" w="320358">
                <a:moveTo>
                  <a:pt x="320358" y="962826"/>
                </a:moveTo>
                <a:lnTo>
                  <a:pt x="0" y="962826"/>
                </a:lnTo>
                <a:lnTo>
                  <a:pt x="0" y="0"/>
                </a:lnTo>
                <a:lnTo>
                  <a:pt x="320358" y="0"/>
                </a:lnTo>
                <a:lnTo>
                  <a:pt x="320358" y="962826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50612" y="5825329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3" y="0"/>
                </a:lnTo>
                <a:lnTo>
                  <a:pt x="8513313" y="8513314"/>
                </a:lnTo>
                <a:lnTo>
                  <a:pt x="0" y="851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25299" y="-4051643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3" y="0"/>
                </a:lnTo>
                <a:lnTo>
                  <a:pt x="8513313" y="8513314"/>
                </a:lnTo>
                <a:lnTo>
                  <a:pt x="0" y="851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144000" y="1528022"/>
            <a:ext cx="7228454" cy="7230957"/>
            <a:chOff x="0" y="0"/>
            <a:chExt cx="1119877" cy="11202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19877" cy="1120264"/>
            </a:xfrm>
            <a:custGeom>
              <a:avLst/>
              <a:gdLst/>
              <a:ahLst/>
              <a:cxnLst/>
              <a:rect r="r" b="b" t="t" l="l"/>
              <a:pathLst>
                <a:path h="1120264" w="1119877">
                  <a:moveTo>
                    <a:pt x="0" y="0"/>
                  </a:moveTo>
                  <a:lnTo>
                    <a:pt x="1119877" y="0"/>
                  </a:lnTo>
                  <a:lnTo>
                    <a:pt x="1119877" y="1120264"/>
                  </a:lnTo>
                  <a:lnTo>
                    <a:pt x="0" y="1120264"/>
                  </a:lnTo>
                  <a:close/>
                </a:path>
              </a:pathLst>
            </a:custGeom>
            <a:blipFill>
              <a:blip r:embed="rId4"/>
              <a:stretch>
                <a:fillRect l="-37054" t="0" r="-1309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758227" y="4731567"/>
            <a:ext cx="4259717" cy="1477451"/>
            <a:chOff x="0" y="0"/>
            <a:chExt cx="1121901" cy="3891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1901" cy="389123"/>
            </a:xfrm>
            <a:custGeom>
              <a:avLst/>
              <a:gdLst/>
              <a:ahLst/>
              <a:cxnLst/>
              <a:rect r="r" b="b" t="t" l="l"/>
              <a:pathLst>
                <a:path h="389123" w="1121901">
                  <a:moveTo>
                    <a:pt x="0" y="0"/>
                  </a:moveTo>
                  <a:lnTo>
                    <a:pt x="1121901" y="0"/>
                  </a:lnTo>
                  <a:lnTo>
                    <a:pt x="1121901" y="389123"/>
                  </a:lnTo>
                  <a:lnTo>
                    <a:pt x="0" y="389123"/>
                  </a:lnTo>
                  <a:close/>
                </a:path>
              </a:pathLst>
            </a:custGeom>
            <a:solidFill>
              <a:srgbClr val="00B4F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1121901" cy="474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758227" y="6560730"/>
            <a:ext cx="4259717" cy="1477451"/>
            <a:chOff x="0" y="0"/>
            <a:chExt cx="1121901" cy="3891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1901" cy="389123"/>
            </a:xfrm>
            <a:custGeom>
              <a:avLst/>
              <a:gdLst/>
              <a:ahLst/>
              <a:cxnLst/>
              <a:rect r="r" b="b" t="t" l="l"/>
              <a:pathLst>
                <a:path h="389123" w="1121901">
                  <a:moveTo>
                    <a:pt x="0" y="0"/>
                  </a:moveTo>
                  <a:lnTo>
                    <a:pt x="1121901" y="0"/>
                  </a:lnTo>
                  <a:lnTo>
                    <a:pt x="1121901" y="389123"/>
                  </a:lnTo>
                  <a:lnTo>
                    <a:pt x="0" y="389123"/>
                  </a:lnTo>
                  <a:close/>
                </a:path>
              </a:pathLst>
            </a:custGeom>
            <a:solidFill>
              <a:srgbClr val="00B4F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121901" cy="474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863630" y="2652711"/>
            <a:ext cx="3940209" cy="83502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5350"/>
              </a:lnSpc>
            </a:pPr>
            <a:r>
              <a:rPr sz="5000" b="0">
                <a:solidFill>
                  <a:srgbClr val="FFFFFF"/>
                </a:solidFill>
                <a:latin typeface="Agrandir"/>
              </a:rPr>
              <a:t>Tri-Brid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63630" y="3411536"/>
            <a:ext cx="5208956" cy="83502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5350"/>
              </a:lnSpc>
            </a:pPr>
            <a:r>
              <a:rPr sz="5000" b="1">
                <a:solidFill>
                  <a:srgbClr val="00B4F0"/>
                </a:solidFill>
                <a:latin typeface="Agrandir"/>
              </a:rPr>
              <a:t>AI Ensemble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46568" y="5072370"/>
            <a:ext cx="2153835" cy="3835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679"/>
              </a:lnSpc>
            </a:pPr>
            <a:r>
              <a:rPr sz="1800" b="1">
                <a:solidFill>
                  <a:srgbClr val="0A1E44"/>
                </a:solidFill>
                <a:latin typeface="Agrandir"/>
              </a:rPr>
              <a:t>XGBoost (60%)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46568" y="5432651"/>
            <a:ext cx="3014151" cy="34899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12"/>
              </a:lnSpc>
            </a:pPr>
            <a:r>
              <a:rPr sz="1500" b="0">
                <a:solidFill>
                  <a:srgbClr val="0A1E44"/>
                </a:solidFill>
                <a:latin typeface="Agrandir"/>
              </a:rPr>
              <a:t>Supervised classification; 0.982 ROC-AUC on known fraud signatures.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46568" y="6901954"/>
            <a:ext cx="2153835" cy="3835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679"/>
              </a:lnSpc>
            </a:pPr>
            <a:r>
              <a:rPr sz="1800" b="1">
                <a:solidFill>
                  <a:srgbClr val="0A1E44"/>
                </a:solidFill>
                <a:latin typeface="Agrandir"/>
              </a:rPr>
              <a:t>IsoForest (25%)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46568" y="7262236"/>
            <a:ext cx="3585651" cy="34899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12"/>
              </a:lnSpc>
            </a:pPr>
            <a:r>
              <a:rPr sz="1500" b="0">
                <a:solidFill>
                  <a:srgbClr val="0A1E44"/>
                </a:solidFill>
                <a:latin typeface="Agrandir"/>
              </a:rPr>
              <a:t>Unsupervised outlier isolation for zero-day, unseen anomalous attacks.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63630" y="4640772"/>
            <a:ext cx="6512190" cy="126339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2412"/>
              </a:lnSpc>
            </a:pPr>
            <a:r>
              <a:rPr sz="1600" b="0">
                <a:solidFill>
                  <a:srgbClr val="FFFFFF"/>
                </a:solidFill>
                <a:latin typeface="Agrandir"/>
              </a:rPr>
              <a:t>Deep Autoencoder (15% Weight): PyTorch neural network evaluating reconstruction loss MSE to identify microsecond order book anomalies and quote stuffing.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63630" y="6294693"/>
            <a:ext cx="6512190" cy="126339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2412"/>
              </a:lnSpc>
            </a:pPr>
            <a:r>
              <a:rPr sz="1600" b="0">
                <a:solidFill>
                  <a:srgbClr val="FFFFFF"/>
                </a:solidFill>
                <a:latin typeface="Agrandir"/>
              </a:rPr>
              <a:t>Composite Decision Boundary: Composite Score = 0.60(XGB) + 0.25(IF) + 0.15(AE). Scores &gt;=0.70 trigger instant freeze &amp; compliance triage.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5400000">
            <a:off x="1349934" y="707466"/>
            <a:ext cx="320358" cy="962826"/>
          </a:xfrm>
          <a:custGeom>
            <a:avLst/>
            <a:gdLst/>
            <a:ahLst/>
            <a:cxnLst/>
            <a:rect r="r" b="b" t="t" l="l"/>
            <a:pathLst>
              <a:path h="962826" w="320358">
                <a:moveTo>
                  <a:pt x="0" y="0"/>
                </a:moveTo>
                <a:lnTo>
                  <a:pt x="320358" y="0"/>
                </a:lnTo>
                <a:lnTo>
                  <a:pt x="320358" y="962826"/>
                </a:lnTo>
                <a:lnTo>
                  <a:pt x="0" y="9628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true" rot="5400000">
            <a:off x="16617708" y="8587367"/>
            <a:ext cx="320358" cy="962826"/>
          </a:xfrm>
          <a:custGeom>
            <a:avLst/>
            <a:gdLst/>
            <a:ahLst/>
            <a:cxnLst/>
            <a:rect r="r" b="b" t="t" l="l"/>
            <a:pathLst>
              <a:path h="962826" w="320358">
                <a:moveTo>
                  <a:pt x="320358" y="962826"/>
                </a:moveTo>
                <a:lnTo>
                  <a:pt x="0" y="962826"/>
                </a:lnTo>
                <a:lnTo>
                  <a:pt x="0" y="0"/>
                </a:lnTo>
                <a:lnTo>
                  <a:pt x="320358" y="0"/>
                </a:lnTo>
                <a:lnTo>
                  <a:pt x="320358" y="9628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39980" y="6484586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3" y="0"/>
                </a:lnTo>
                <a:lnTo>
                  <a:pt x="8513313" y="8513313"/>
                </a:lnTo>
                <a:lnTo>
                  <a:pt x="0" y="851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165293" y="-4710899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3" y="0"/>
                </a:lnTo>
                <a:lnTo>
                  <a:pt x="8513313" y="8513313"/>
                </a:lnTo>
                <a:lnTo>
                  <a:pt x="0" y="851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7919" y="6395587"/>
            <a:ext cx="4434873" cy="709124"/>
            <a:chOff x="0" y="0"/>
            <a:chExt cx="1168032" cy="1867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68032" cy="186765"/>
            </a:xfrm>
            <a:custGeom>
              <a:avLst/>
              <a:gdLst/>
              <a:ahLst/>
              <a:cxnLst/>
              <a:rect r="r" b="b" t="t" l="l"/>
              <a:pathLst>
                <a:path h="186765" w="1168032">
                  <a:moveTo>
                    <a:pt x="0" y="0"/>
                  </a:moveTo>
                  <a:lnTo>
                    <a:pt x="1168032" y="0"/>
                  </a:lnTo>
                  <a:lnTo>
                    <a:pt x="1168032" y="186765"/>
                  </a:lnTo>
                  <a:lnTo>
                    <a:pt x="0" y="186765"/>
                  </a:lnTo>
                  <a:close/>
                </a:path>
              </a:pathLst>
            </a:custGeom>
            <a:solidFill>
              <a:srgbClr val="00B4F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1168032" cy="272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22368" y="6380786"/>
            <a:ext cx="4434873" cy="709124"/>
            <a:chOff x="0" y="0"/>
            <a:chExt cx="1168032" cy="1867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68032" cy="186765"/>
            </a:xfrm>
            <a:custGeom>
              <a:avLst/>
              <a:gdLst/>
              <a:ahLst/>
              <a:cxnLst/>
              <a:rect r="r" b="b" t="t" l="l"/>
              <a:pathLst>
                <a:path h="186765" w="1168032">
                  <a:moveTo>
                    <a:pt x="0" y="0"/>
                  </a:moveTo>
                  <a:lnTo>
                    <a:pt x="1168032" y="0"/>
                  </a:lnTo>
                  <a:lnTo>
                    <a:pt x="1168032" y="186765"/>
                  </a:lnTo>
                  <a:lnTo>
                    <a:pt x="0" y="186765"/>
                  </a:lnTo>
                  <a:close/>
                </a:path>
              </a:pathLst>
            </a:custGeom>
            <a:solidFill>
              <a:srgbClr val="00B4F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1168032" cy="272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22225" y="6380786"/>
            <a:ext cx="4434873" cy="709124"/>
            <a:chOff x="0" y="0"/>
            <a:chExt cx="1168032" cy="18676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68032" cy="186765"/>
            </a:xfrm>
            <a:custGeom>
              <a:avLst/>
              <a:gdLst/>
              <a:ahLst/>
              <a:cxnLst/>
              <a:rect r="r" b="b" t="t" l="l"/>
              <a:pathLst>
                <a:path h="186765" w="1168032">
                  <a:moveTo>
                    <a:pt x="0" y="0"/>
                  </a:moveTo>
                  <a:lnTo>
                    <a:pt x="1168032" y="0"/>
                  </a:lnTo>
                  <a:lnTo>
                    <a:pt x="1168032" y="186765"/>
                  </a:lnTo>
                  <a:lnTo>
                    <a:pt x="0" y="186765"/>
                  </a:lnTo>
                  <a:close/>
                </a:path>
              </a:pathLst>
            </a:custGeom>
            <a:solidFill>
              <a:srgbClr val="00B4F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1168032" cy="272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27919" y="3999074"/>
            <a:ext cx="4437857" cy="2396512"/>
            <a:chOff x="0" y="0"/>
            <a:chExt cx="687540" cy="3712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7540" cy="371282"/>
            </a:xfrm>
            <a:custGeom>
              <a:avLst/>
              <a:gdLst/>
              <a:ahLst/>
              <a:cxnLst/>
              <a:rect r="r" b="b" t="t" l="l"/>
              <a:pathLst>
                <a:path h="371282" w="687540">
                  <a:moveTo>
                    <a:pt x="0" y="0"/>
                  </a:moveTo>
                  <a:lnTo>
                    <a:pt x="687540" y="0"/>
                  </a:lnTo>
                  <a:lnTo>
                    <a:pt x="687540" y="371282"/>
                  </a:lnTo>
                  <a:lnTo>
                    <a:pt x="0" y="371282"/>
                  </a:lnTo>
                  <a:close/>
                </a:path>
              </a:pathLst>
            </a:custGeom>
            <a:blipFill>
              <a:blip r:embed="rId4"/>
              <a:stretch>
                <a:fillRect l="0" t="-11803" r="0" b="-11803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922368" y="3999074"/>
            <a:ext cx="4437857" cy="2396512"/>
            <a:chOff x="0" y="0"/>
            <a:chExt cx="687540" cy="37128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7540" cy="371282"/>
            </a:xfrm>
            <a:custGeom>
              <a:avLst/>
              <a:gdLst/>
              <a:ahLst/>
              <a:cxnLst/>
              <a:rect r="r" b="b" t="t" l="l"/>
              <a:pathLst>
                <a:path h="371282" w="687540">
                  <a:moveTo>
                    <a:pt x="0" y="0"/>
                  </a:moveTo>
                  <a:lnTo>
                    <a:pt x="687540" y="0"/>
                  </a:lnTo>
                  <a:lnTo>
                    <a:pt x="687540" y="371282"/>
                  </a:lnTo>
                  <a:lnTo>
                    <a:pt x="0" y="371282"/>
                  </a:lnTo>
                  <a:close/>
                </a:path>
              </a:pathLst>
            </a:custGeom>
            <a:blipFill>
              <a:blip r:embed="rId5"/>
              <a:stretch>
                <a:fillRect l="0" t="-11726" r="0" b="-11726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122225" y="3999074"/>
            <a:ext cx="4437857" cy="2396512"/>
            <a:chOff x="0" y="0"/>
            <a:chExt cx="687540" cy="3712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7540" cy="371282"/>
            </a:xfrm>
            <a:custGeom>
              <a:avLst/>
              <a:gdLst/>
              <a:ahLst/>
              <a:cxnLst/>
              <a:rect r="r" b="b" t="t" l="l"/>
              <a:pathLst>
                <a:path h="371282" w="687540">
                  <a:moveTo>
                    <a:pt x="0" y="0"/>
                  </a:moveTo>
                  <a:lnTo>
                    <a:pt x="687540" y="0"/>
                  </a:lnTo>
                  <a:lnTo>
                    <a:pt x="687540" y="371282"/>
                  </a:lnTo>
                  <a:lnTo>
                    <a:pt x="0" y="371282"/>
                  </a:lnTo>
                  <a:close/>
                </a:path>
              </a:pathLst>
            </a:custGeom>
            <a:blipFill>
              <a:blip r:embed="rId6"/>
              <a:stretch>
                <a:fillRect l="0" t="-11688" r="0" b="-11688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165775" y="1804594"/>
            <a:ext cx="5951043" cy="83502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5350"/>
              </a:lnSpc>
            </a:pPr>
            <a:r>
              <a:rPr sz="5000" b="0">
                <a:solidFill>
                  <a:srgbClr val="FFFFFF"/>
                </a:solidFill>
                <a:latin typeface="Agrandir"/>
              </a:rPr>
              <a:t>Engineered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36818" y="2563419"/>
            <a:ext cx="5208956" cy="83502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5350"/>
              </a:lnSpc>
            </a:pPr>
            <a:r>
              <a:rPr sz="5000" b="1">
                <a:solidFill>
                  <a:srgbClr val="00B4F0"/>
                </a:solidFill>
                <a:latin typeface="Agrandir"/>
              </a:rPr>
              <a:t>Features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41598" y="6515516"/>
            <a:ext cx="3445001" cy="3835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679"/>
              </a:lnSpc>
            </a:pPr>
            <a:r>
              <a:rPr sz="1800" b="1">
                <a:solidFill>
                  <a:srgbClr val="0A1E44"/>
                </a:solidFill>
                <a:latin typeface="Agrandir"/>
              </a:rPr>
              <a:t>Order-to-Trade Ratio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27919" y="7142810"/>
            <a:ext cx="4437857" cy="126339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2412"/>
              </a:lnSpc>
            </a:pPr>
            <a:r>
              <a:rPr sz="1600" b="0">
                <a:solidFill>
                  <a:srgbClr val="FFFFFF"/>
                </a:solidFill>
                <a:latin typeface="Agrandir"/>
              </a:rPr>
              <a:t>Calculates ratio of submitted orders vs executed fills. Extreme ratios (&gt;90%) immediately expose spoofing and book manipulation.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36047" y="6515516"/>
            <a:ext cx="3445001" cy="3835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679"/>
              </a:lnSpc>
            </a:pPr>
            <a:r>
              <a:rPr sz="1800" b="1">
                <a:solidFill>
                  <a:srgbClr val="0A1E44"/>
                </a:solidFill>
                <a:latin typeface="Agrandir"/>
              </a:rPr>
              <a:t>Cancellation Velocity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22368" y="7142810"/>
            <a:ext cx="4437857" cy="126339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2412"/>
              </a:lnSpc>
            </a:pPr>
            <a:r>
              <a:rPr sz="1600" b="0">
                <a:solidFill>
                  <a:srgbClr val="FFFFFF"/>
                </a:solidFill>
                <a:latin typeface="Agrandir"/>
              </a:rPr>
              <a:t>Measures microsecond delta between order placement and cancellation, flagging high-frequency spoof probing algorithms.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35904" y="6515516"/>
            <a:ext cx="3445001" cy="3835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679"/>
              </a:lnSpc>
            </a:pPr>
            <a:r>
              <a:rPr sz="1800" b="1">
                <a:solidFill>
                  <a:srgbClr val="0A1E44"/>
                </a:solidFill>
                <a:latin typeface="Agrandir"/>
              </a:rPr>
              <a:t>Volume Z-Score &amp; Imbalance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22225" y="7142810"/>
            <a:ext cx="4437857" cy="126339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just">
              <a:lnSpc>
                <a:spcPts val="2412"/>
              </a:lnSpc>
            </a:pPr>
            <a:r>
              <a:rPr sz="1600" b="0">
                <a:solidFill>
                  <a:srgbClr val="FFFFFF"/>
                </a:solidFill>
                <a:latin typeface="Agrandir"/>
              </a:rPr>
              <a:t>Statistical standard deviations from 15-min rolling baselines combined with multi-tier bid-ask depth skews to uncover wash trading.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028700" y="8295474"/>
            <a:ext cx="320358" cy="962826"/>
          </a:xfrm>
          <a:custGeom>
            <a:avLst/>
            <a:gdLst/>
            <a:ahLst/>
            <a:cxnLst/>
            <a:rect r="r" b="b" t="t" l="l"/>
            <a:pathLst>
              <a:path h="962826" w="320358">
                <a:moveTo>
                  <a:pt x="0" y="0"/>
                </a:moveTo>
                <a:lnTo>
                  <a:pt x="320358" y="0"/>
                </a:lnTo>
                <a:lnTo>
                  <a:pt x="320358" y="962826"/>
                </a:lnTo>
                <a:lnTo>
                  <a:pt x="0" y="9628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true" flipV="true" rot="0">
            <a:off x="16938942" y="1028700"/>
            <a:ext cx="320358" cy="962826"/>
          </a:xfrm>
          <a:custGeom>
            <a:avLst/>
            <a:gdLst/>
            <a:ahLst/>
            <a:cxnLst/>
            <a:rect r="r" b="b" t="t" l="l"/>
            <a:pathLst>
              <a:path h="962826" w="320358">
                <a:moveTo>
                  <a:pt x="320358" y="962826"/>
                </a:moveTo>
                <a:lnTo>
                  <a:pt x="0" y="962826"/>
                </a:lnTo>
                <a:lnTo>
                  <a:pt x="0" y="0"/>
                </a:lnTo>
                <a:lnTo>
                  <a:pt x="320358" y="0"/>
                </a:lnTo>
                <a:lnTo>
                  <a:pt x="320358" y="962826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278487" cy="8175666"/>
            <a:chOff x="0" y="0"/>
            <a:chExt cx="972702" cy="12666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2702" cy="1266625"/>
            </a:xfrm>
            <a:custGeom>
              <a:avLst/>
              <a:gdLst/>
              <a:ahLst/>
              <a:cxnLst/>
              <a:rect r="r" b="b" t="t" l="l"/>
              <a:pathLst>
                <a:path h="1266625" w="972702">
                  <a:moveTo>
                    <a:pt x="0" y="0"/>
                  </a:moveTo>
                  <a:lnTo>
                    <a:pt x="972702" y="0"/>
                  </a:lnTo>
                  <a:lnTo>
                    <a:pt x="972702" y="1266625"/>
                  </a:lnTo>
                  <a:lnTo>
                    <a:pt x="0" y="1266625"/>
                  </a:lnTo>
                  <a:close/>
                </a:path>
              </a:pathLst>
            </a:custGeom>
            <a:blipFill>
              <a:blip r:embed="rId2"/>
              <a:stretch>
                <a:fillRect l="0" t="-7524" r="0" b="-752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93072" y="4222709"/>
            <a:ext cx="2570829" cy="1477451"/>
            <a:chOff x="0" y="0"/>
            <a:chExt cx="677091" cy="3891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7091" cy="389123"/>
            </a:xfrm>
            <a:custGeom>
              <a:avLst/>
              <a:gdLst/>
              <a:ahLst/>
              <a:cxnLst/>
              <a:rect r="r" b="b" t="t" l="l"/>
              <a:pathLst>
                <a:path h="389123" w="677091">
                  <a:moveTo>
                    <a:pt x="0" y="0"/>
                  </a:moveTo>
                  <a:lnTo>
                    <a:pt x="677091" y="0"/>
                  </a:lnTo>
                  <a:lnTo>
                    <a:pt x="677091" y="389123"/>
                  </a:lnTo>
                  <a:lnTo>
                    <a:pt x="0" y="389123"/>
                  </a:lnTo>
                  <a:close/>
                </a:path>
              </a:pathLst>
            </a:custGeom>
            <a:solidFill>
              <a:srgbClr val="00B4F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677091" cy="474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009513" y="0"/>
            <a:ext cx="6278487" cy="8175666"/>
            <a:chOff x="0" y="0"/>
            <a:chExt cx="972702" cy="12666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2702" cy="1266625"/>
            </a:xfrm>
            <a:custGeom>
              <a:avLst/>
              <a:gdLst/>
              <a:ahLst/>
              <a:cxnLst/>
              <a:rect r="r" b="b" t="t" l="l"/>
              <a:pathLst>
                <a:path h="1266625" w="972702">
                  <a:moveTo>
                    <a:pt x="0" y="0"/>
                  </a:moveTo>
                  <a:lnTo>
                    <a:pt x="972702" y="0"/>
                  </a:lnTo>
                  <a:lnTo>
                    <a:pt x="972702" y="1266625"/>
                  </a:lnTo>
                  <a:lnTo>
                    <a:pt x="0" y="1266625"/>
                  </a:lnTo>
                  <a:close/>
                </a:path>
              </a:pathLst>
            </a:custGeom>
            <a:blipFill>
              <a:blip r:embed="rId3"/>
              <a:stretch>
                <a:fillRect l="0" t="-481" r="0" b="-1478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724099" y="4222709"/>
            <a:ext cx="2570829" cy="1477451"/>
            <a:chOff x="0" y="0"/>
            <a:chExt cx="677091" cy="3891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7091" cy="389123"/>
            </a:xfrm>
            <a:custGeom>
              <a:avLst/>
              <a:gdLst/>
              <a:ahLst/>
              <a:cxnLst/>
              <a:rect r="r" b="b" t="t" l="l"/>
              <a:pathLst>
                <a:path h="389123" w="677091">
                  <a:moveTo>
                    <a:pt x="0" y="0"/>
                  </a:moveTo>
                  <a:lnTo>
                    <a:pt x="677091" y="0"/>
                  </a:lnTo>
                  <a:lnTo>
                    <a:pt x="677091" y="389123"/>
                  </a:lnTo>
                  <a:lnTo>
                    <a:pt x="0" y="389123"/>
                  </a:lnTo>
                  <a:close/>
                </a:path>
              </a:pathLst>
            </a:custGeom>
            <a:solidFill>
              <a:srgbClr val="00B4F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677091" cy="474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963521" y="2035134"/>
            <a:ext cx="4360958" cy="15113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5350"/>
              </a:lnSpc>
            </a:pPr>
            <a:r>
              <a:rPr sz="4600" b="1">
                <a:solidFill>
                  <a:srgbClr val="00B4F0"/>
                </a:solidFill>
                <a:latin typeface="Agrandir"/>
              </a:rPr>
              <a:t>XGBoost vs. Random Forest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94732" y="4400009"/>
            <a:ext cx="2167509" cy="3835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2679"/>
              </a:lnSpc>
            </a:pPr>
            <a:r>
              <a:rPr sz="1800" b="1">
                <a:solidFill>
                  <a:srgbClr val="0A1E44"/>
                </a:solidFill>
                <a:latin typeface="Agrandir"/>
              </a:rPr>
              <a:t>Random Forest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92502" y="4760732"/>
            <a:ext cx="2371969" cy="65379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2412"/>
              </a:lnSpc>
            </a:pPr>
            <a:r>
              <a:rPr sz="1500" b="0">
                <a:solidFill>
                  <a:srgbClr val="0A1E44"/>
                </a:solidFill>
                <a:latin typeface="Agrandir"/>
              </a:rPr>
              <a:t>Bagging; slower latency (&gt;2.5ms), ROC-AUC ~0.92, struggles on 0.1% fraud imbalance.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25759" y="4400009"/>
            <a:ext cx="2167509" cy="3835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2679"/>
              </a:lnSpc>
            </a:pPr>
            <a:r>
              <a:rPr sz="1800" b="1">
                <a:solidFill>
                  <a:srgbClr val="0A1E44"/>
                </a:solidFill>
                <a:latin typeface="Agrandir"/>
              </a:rPr>
              <a:t>XGBoost (Chosen)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50879" y="4760732"/>
            <a:ext cx="1917268" cy="65379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2412"/>
              </a:lnSpc>
            </a:pPr>
            <a:r>
              <a:rPr sz="1500" b="0">
                <a:solidFill>
                  <a:srgbClr val="0A1E44"/>
                </a:solidFill>
                <a:latin typeface="Agrandir"/>
              </a:rPr>
              <a:t>Gradient boosting; &lt;0.28ms tree traversal, ROC-AUC 0.982, native scale_pos_weight.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72299" y="6302670"/>
            <a:ext cx="4743401" cy="187299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2412"/>
              </a:lnSpc>
            </a:pPr>
            <a:r>
              <a:rPr sz="1600" b="0">
                <a:solidFill>
                  <a:srgbClr val="FFFFFF"/>
                </a:solidFill>
                <a:latin typeface="Agrandir"/>
              </a:rPr>
              <a:t>Why XGBoost won: In high-frequency market surveillance, a 0.06 AUC difference prevents thousands of costly false alarms while guaranteeing strict sub-millisecond execution budgets.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5400000">
            <a:off x="1349934" y="707466"/>
            <a:ext cx="320358" cy="962826"/>
          </a:xfrm>
          <a:custGeom>
            <a:avLst/>
            <a:gdLst/>
            <a:ahLst/>
            <a:cxnLst/>
            <a:rect r="r" b="b" t="t" l="l"/>
            <a:pathLst>
              <a:path h="962826" w="320358">
                <a:moveTo>
                  <a:pt x="0" y="0"/>
                </a:moveTo>
                <a:lnTo>
                  <a:pt x="320358" y="0"/>
                </a:lnTo>
                <a:lnTo>
                  <a:pt x="320358" y="962826"/>
                </a:lnTo>
                <a:lnTo>
                  <a:pt x="0" y="962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true" rot="5400000">
            <a:off x="16617708" y="8587367"/>
            <a:ext cx="320358" cy="962826"/>
          </a:xfrm>
          <a:custGeom>
            <a:avLst/>
            <a:gdLst/>
            <a:ahLst/>
            <a:cxnLst/>
            <a:rect r="r" b="b" t="t" l="l"/>
            <a:pathLst>
              <a:path h="962826" w="320358">
                <a:moveTo>
                  <a:pt x="320358" y="962826"/>
                </a:moveTo>
                <a:lnTo>
                  <a:pt x="0" y="962826"/>
                </a:lnTo>
                <a:lnTo>
                  <a:pt x="0" y="0"/>
                </a:lnTo>
                <a:lnTo>
                  <a:pt x="320358" y="0"/>
                </a:lnTo>
                <a:lnTo>
                  <a:pt x="320358" y="9628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797222" y="9461541"/>
            <a:ext cx="6693556" cy="2227428"/>
          </a:xfrm>
          <a:custGeom>
            <a:avLst/>
            <a:gdLst/>
            <a:ahLst/>
            <a:cxnLst/>
            <a:rect r="r" b="b" t="t" l="l"/>
            <a:pathLst>
              <a:path h="2227428" w="6693556">
                <a:moveTo>
                  <a:pt x="0" y="0"/>
                </a:moveTo>
                <a:lnTo>
                  <a:pt x="6693556" y="0"/>
                </a:lnTo>
                <a:lnTo>
                  <a:pt x="6693556" y="2227428"/>
                </a:lnTo>
                <a:lnTo>
                  <a:pt x="0" y="22274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3850612" y="5825329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3" y="0"/>
                </a:lnTo>
                <a:lnTo>
                  <a:pt x="8513313" y="8513314"/>
                </a:lnTo>
                <a:lnTo>
                  <a:pt x="0" y="85133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8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625299" y="-4051643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3" y="0"/>
                </a:lnTo>
                <a:lnTo>
                  <a:pt x="8513313" y="8513314"/>
                </a:lnTo>
                <a:lnTo>
                  <a:pt x="0" y="85133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8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6219760"/>
            <a:chOff x="0" y="0"/>
            <a:chExt cx="2833290" cy="9636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963604"/>
            </a:xfrm>
            <a:custGeom>
              <a:avLst/>
              <a:gdLst/>
              <a:ahLst/>
              <a:cxnLst/>
              <a:rect r="r" b="b" t="t" l="l"/>
              <a:pathLst>
                <a:path h="963604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963604"/>
                  </a:lnTo>
                  <a:lnTo>
                    <a:pt x="0" y="963604"/>
                  </a:lnTo>
                  <a:close/>
                </a:path>
              </a:pathLst>
            </a:custGeom>
            <a:blipFill>
              <a:blip r:embed="rId2"/>
              <a:stretch>
                <a:fillRect l="0" t="-40290" r="0" b="-55607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597605" y="6609081"/>
            <a:ext cx="7092790" cy="83502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5350"/>
              </a:lnSpc>
            </a:pPr>
            <a:r>
              <a:rPr sz="4600" b="1">
                <a:solidFill>
                  <a:srgbClr val="00B4F0"/>
                </a:solidFill>
                <a:latin typeface="Agrandir"/>
              </a:rPr>
              <a:t>Regulatory XAI &amp; Audit Trail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39631" y="7694384"/>
            <a:ext cx="10808737" cy="95859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2412"/>
              </a:lnSpc>
            </a:pPr>
            <a:r>
              <a:rPr sz="1800" b="0">
                <a:solidFill>
                  <a:srgbClr val="FFFFFF"/>
                </a:solidFill>
                <a:latin typeface="Agrandir"/>
              </a:rPr>
              <a:t>Regulators (SEC &amp; FINRA) strictly reject black-box models. Our architecture integrates Fast Tree-SHAP to compute exact mathematical feature contributions for every flagged transaction, recorded into an immutable Delta Lake audit trail ready for legal subpoenas and court-admissible evidence.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8295474"/>
            <a:ext cx="320358" cy="962826"/>
          </a:xfrm>
          <a:custGeom>
            <a:avLst/>
            <a:gdLst/>
            <a:ahLst/>
            <a:cxnLst/>
            <a:rect r="r" b="b" t="t" l="l"/>
            <a:pathLst>
              <a:path h="962826" w="320358">
                <a:moveTo>
                  <a:pt x="0" y="0"/>
                </a:moveTo>
                <a:lnTo>
                  <a:pt x="320358" y="0"/>
                </a:lnTo>
                <a:lnTo>
                  <a:pt x="320358" y="962826"/>
                </a:lnTo>
                <a:lnTo>
                  <a:pt x="0" y="9628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6938942" y="1028700"/>
            <a:ext cx="320358" cy="962826"/>
          </a:xfrm>
          <a:custGeom>
            <a:avLst/>
            <a:gdLst/>
            <a:ahLst/>
            <a:cxnLst/>
            <a:rect r="r" b="b" t="t" l="l"/>
            <a:pathLst>
              <a:path h="962826" w="320358">
                <a:moveTo>
                  <a:pt x="320358" y="962826"/>
                </a:moveTo>
                <a:lnTo>
                  <a:pt x="0" y="962826"/>
                </a:lnTo>
                <a:lnTo>
                  <a:pt x="0" y="0"/>
                </a:lnTo>
                <a:lnTo>
                  <a:pt x="320358" y="0"/>
                </a:lnTo>
                <a:lnTo>
                  <a:pt x="320358" y="96282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50612" y="5825329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3" y="0"/>
                </a:lnTo>
                <a:lnTo>
                  <a:pt x="8513313" y="8513314"/>
                </a:lnTo>
                <a:lnTo>
                  <a:pt x="0" y="851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25299" y="-4051643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3" y="0"/>
                </a:lnTo>
                <a:lnTo>
                  <a:pt x="8513313" y="8513314"/>
                </a:lnTo>
                <a:lnTo>
                  <a:pt x="0" y="851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121651" y="731290"/>
            <a:ext cx="5017980" cy="8824421"/>
            <a:chOff x="0" y="0"/>
            <a:chExt cx="558922" cy="9828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8922" cy="982897"/>
            </a:xfrm>
            <a:custGeom>
              <a:avLst/>
              <a:gdLst/>
              <a:ahLst/>
              <a:cxnLst/>
              <a:rect r="r" b="b" t="t" l="l"/>
              <a:pathLst>
                <a:path h="982897" w="558922">
                  <a:moveTo>
                    <a:pt x="0" y="0"/>
                  </a:moveTo>
                  <a:lnTo>
                    <a:pt x="558922" y="0"/>
                  </a:lnTo>
                  <a:lnTo>
                    <a:pt x="558922" y="982897"/>
                  </a:lnTo>
                  <a:lnTo>
                    <a:pt x="0" y="982897"/>
                  </a:lnTo>
                  <a:close/>
                </a:path>
              </a:pathLst>
            </a:custGeom>
            <a:blipFill>
              <a:blip r:embed="rId4"/>
              <a:stretch>
                <a:fillRect l="-8582" t="0" r="-8582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675496" y="2445761"/>
            <a:ext cx="5313955" cy="1477451"/>
            <a:chOff x="0" y="0"/>
            <a:chExt cx="1399560" cy="3891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9560" cy="389123"/>
            </a:xfrm>
            <a:custGeom>
              <a:avLst/>
              <a:gdLst/>
              <a:ahLst/>
              <a:cxnLst/>
              <a:rect r="r" b="b" t="t" l="l"/>
              <a:pathLst>
                <a:path h="389123" w="1399560">
                  <a:moveTo>
                    <a:pt x="0" y="0"/>
                  </a:moveTo>
                  <a:lnTo>
                    <a:pt x="1399560" y="0"/>
                  </a:lnTo>
                  <a:lnTo>
                    <a:pt x="1399560" y="389123"/>
                  </a:lnTo>
                  <a:lnTo>
                    <a:pt x="0" y="389123"/>
                  </a:lnTo>
                  <a:close/>
                </a:path>
              </a:pathLst>
            </a:custGeom>
            <a:solidFill>
              <a:srgbClr val="00B4F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85725"/>
              <a:ext cx="1399560" cy="474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75496" y="4425950"/>
            <a:ext cx="5313955" cy="1477451"/>
            <a:chOff x="0" y="0"/>
            <a:chExt cx="1399560" cy="3891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9560" cy="389123"/>
            </a:xfrm>
            <a:custGeom>
              <a:avLst/>
              <a:gdLst/>
              <a:ahLst/>
              <a:cxnLst/>
              <a:rect r="r" b="b" t="t" l="l"/>
              <a:pathLst>
                <a:path h="389123" w="1399560">
                  <a:moveTo>
                    <a:pt x="0" y="0"/>
                  </a:moveTo>
                  <a:lnTo>
                    <a:pt x="1399560" y="0"/>
                  </a:lnTo>
                  <a:lnTo>
                    <a:pt x="1399560" y="389123"/>
                  </a:lnTo>
                  <a:lnTo>
                    <a:pt x="0" y="389123"/>
                  </a:lnTo>
                  <a:close/>
                </a:path>
              </a:pathLst>
            </a:custGeom>
            <a:solidFill>
              <a:srgbClr val="00B4F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399560" cy="474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675496" y="6406139"/>
            <a:ext cx="5313955" cy="1477451"/>
            <a:chOff x="0" y="0"/>
            <a:chExt cx="1399560" cy="3891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99560" cy="389123"/>
            </a:xfrm>
            <a:custGeom>
              <a:avLst/>
              <a:gdLst/>
              <a:ahLst/>
              <a:cxnLst/>
              <a:rect r="r" b="b" t="t" l="l"/>
              <a:pathLst>
                <a:path h="389123" w="1399560">
                  <a:moveTo>
                    <a:pt x="0" y="0"/>
                  </a:moveTo>
                  <a:lnTo>
                    <a:pt x="1399560" y="0"/>
                  </a:lnTo>
                  <a:lnTo>
                    <a:pt x="1399560" y="389123"/>
                  </a:lnTo>
                  <a:lnTo>
                    <a:pt x="0" y="389123"/>
                  </a:lnTo>
                  <a:close/>
                </a:path>
              </a:pathLst>
            </a:custGeom>
            <a:solidFill>
              <a:srgbClr val="00B4F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1399560" cy="474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550617" y="4592062"/>
            <a:ext cx="1142068" cy="1102877"/>
            <a:chOff x="0" y="0"/>
            <a:chExt cx="300791" cy="2904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0791" cy="290470"/>
            </a:xfrm>
            <a:custGeom>
              <a:avLst/>
              <a:gdLst/>
              <a:ahLst/>
              <a:cxnLst/>
              <a:rect r="r" b="b" t="t" l="l"/>
              <a:pathLst>
                <a:path h="290470" w="300791">
                  <a:moveTo>
                    <a:pt x="0" y="0"/>
                  </a:moveTo>
                  <a:lnTo>
                    <a:pt x="300791" y="0"/>
                  </a:lnTo>
                  <a:lnTo>
                    <a:pt x="300791" y="290470"/>
                  </a:lnTo>
                  <a:lnTo>
                    <a:pt x="0" y="290470"/>
                  </a:lnTo>
                  <a:close/>
                </a:path>
              </a:pathLst>
            </a:custGeom>
            <a:solidFill>
              <a:srgbClr val="00B4F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300791" cy="37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6764411" y="4728981"/>
            <a:ext cx="714479" cy="829037"/>
          </a:xfrm>
          <a:custGeom>
            <a:avLst/>
            <a:gdLst/>
            <a:ahLst/>
            <a:cxnLst/>
            <a:rect r="r" b="b" t="t" l="l"/>
            <a:pathLst>
              <a:path h="829037" w="714479">
                <a:moveTo>
                  <a:pt x="0" y="0"/>
                </a:moveTo>
                <a:lnTo>
                  <a:pt x="714479" y="0"/>
                </a:lnTo>
                <a:lnTo>
                  <a:pt x="714479" y="829038"/>
                </a:lnTo>
                <a:lnTo>
                  <a:pt x="0" y="8290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914605" y="2529994"/>
            <a:ext cx="4171790" cy="15113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5350"/>
              </a:lnSpc>
            </a:pPr>
            <a:r>
              <a:rPr sz="4600" b="1">
                <a:solidFill>
                  <a:srgbClr val="00B4F0"/>
                </a:solidFill>
                <a:latin typeface="Agrandir"/>
              </a:rPr>
              <a:t>Enterprise Tech Stack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39631" y="3247544"/>
            <a:ext cx="4543404" cy="34899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12"/>
              </a:lnSpc>
            </a:pPr>
            <a:r>
              <a:rPr sz="1500" b="0">
                <a:solidFill>
                  <a:srgbClr val="0A1E44"/>
                </a:solidFill>
                <a:latin typeface="Agrandir"/>
              </a:rPr>
              <a:t>Azure Event Hubs &amp; Kafka: High-throughput ingestion (50k+ msgs/sec).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39631" y="2800947"/>
            <a:ext cx="2223983" cy="3835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679"/>
              </a:lnSpc>
            </a:pPr>
            <a:r>
              <a:rPr sz="1800" b="1">
                <a:solidFill>
                  <a:srgbClr val="0A1E44"/>
                </a:solidFill>
                <a:latin typeface="Agrandir"/>
              </a:rPr>
              <a:t>Streaming Ingestion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39631" y="5150839"/>
            <a:ext cx="4543404" cy="34899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12"/>
              </a:lnSpc>
            </a:pPr>
            <a:r>
              <a:rPr sz="1500" b="0">
                <a:solidFill>
                  <a:srgbClr val="0A1E44"/>
                </a:solidFill>
                <a:latin typeface="Agrandir"/>
              </a:rPr>
              <a:t>Delta Lake Medallion: ACID Bronze (Raw), Silver (Features), Gold (BI).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39631" y="4704242"/>
            <a:ext cx="2223983" cy="3835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679"/>
              </a:lnSpc>
            </a:pPr>
            <a:r>
              <a:rPr sz="1800" b="1">
                <a:solidFill>
                  <a:srgbClr val="0A1E44"/>
                </a:solidFill>
                <a:latin typeface="Agrandir"/>
              </a:rPr>
              <a:t>Data Lakehouse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39631" y="7051332"/>
            <a:ext cx="3252237" cy="34899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12"/>
              </a:lnSpc>
            </a:pPr>
            <a:r>
              <a:rPr sz="1500" b="0">
                <a:solidFill>
                  <a:srgbClr val="0A1E44"/>
                </a:solidFill>
                <a:latin typeface="Agrandir"/>
              </a:rPr>
              <a:t>FastAPI Microservice: Ultra-low latency asynchronous scoring engine.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39631" y="6604735"/>
            <a:ext cx="2223983" cy="38354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679"/>
              </a:lnSpc>
            </a:pPr>
            <a:r>
              <a:rPr sz="1800" b="1">
                <a:solidFill>
                  <a:srgbClr val="0A1E44"/>
                </a:solidFill>
                <a:latin typeface="Agrandir"/>
              </a:rPr>
              <a:t>AI Serving Engine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63630" y="5423635"/>
            <a:ext cx="3909343" cy="217779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12"/>
              </a:lnSpc>
            </a:pPr>
            <a:r>
              <a:rPr sz="1600" b="0">
                <a:solidFill>
                  <a:srgbClr val="FFFFFF"/>
                </a:solidFill>
                <a:latin typeface="Agrandir"/>
              </a:rPr>
              <a:t>Command Center &amp; BI: 60FPS Vanilla JS live surveillance web stream paired with interactive Microsoft Power BI executive reporting dashboards for comprehensive audit governance.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5400000">
            <a:off x="1349934" y="707466"/>
            <a:ext cx="320358" cy="962826"/>
          </a:xfrm>
          <a:custGeom>
            <a:avLst/>
            <a:gdLst/>
            <a:ahLst/>
            <a:cxnLst/>
            <a:rect r="r" b="b" t="t" l="l"/>
            <a:pathLst>
              <a:path h="962826" w="320358">
                <a:moveTo>
                  <a:pt x="0" y="0"/>
                </a:moveTo>
                <a:lnTo>
                  <a:pt x="320358" y="0"/>
                </a:lnTo>
                <a:lnTo>
                  <a:pt x="320358" y="962826"/>
                </a:lnTo>
                <a:lnTo>
                  <a:pt x="0" y="9628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true" flipV="true" rot="5400000">
            <a:off x="16617708" y="8587367"/>
            <a:ext cx="320358" cy="962826"/>
          </a:xfrm>
          <a:custGeom>
            <a:avLst/>
            <a:gdLst/>
            <a:ahLst/>
            <a:cxnLst/>
            <a:rect r="r" b="b" t="t" l="l"/>
            <a:pathLst>
              <a:path h="962826" w="320358">
                <a:moveTo>
                  <a:pt x="320358" y="962826"/>
                </a:moveTo>
                <a:lnTo>
                  <a:pt x="0" y="962826"/>
                </a:lnTo>
                <a:lnTo>
                  <a:pt x="0" y="0"/>
                </a:lnTo>
                <a:lnTo>
                  <a:pt x="320358" y="0"/>
                </a:lnTo>
                <a:lnTo>
                  <a:pt x="320358" y="962826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39980" y="6484586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3" y="0"/>
                </a:lnTo>
                <a:lnTo>
                  <a:pt x="8513313" y="8513313"/>
                </a:lnTo>
                <a:lnTo>
                  <a:pt x="0" y="851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165293" y="-4710899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3" y="0"/>
                </a:lnTo>
                <a:lnTo>
                  <a:pt x="8513313" y="8513313"/>
                </a:lnTo>
                <a:lnTo>
                  <a:pt x="0" y="851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5268897" cy="5142267"/>
            <a:chOff x="0" y="0"/>
            <a:chExt cx="1119877" cy="10929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19877" cy="1092962"/>
            </a:xfrm>
            <a:custGeom>
              <a:avLst/>
              <a:gdLst/>
              <a:ahLst/>
              <a:cxnLst/>
              <a:rect r="r" b="b" t="t" l="l"/>
              <a:pathLst>
                <a:path h="1092962" w="1119877">
                  <a:moveTo>
                    <a:pt x="0" y="0"/>
                  </a:moveTo>
                  <a:lnTo>
                    <a:pt x="1119877" y="0"/>
                  </a:lnTo>
                  <a:lnTo>
                    <a:pt x="1119877" y="1092962"/>
                  </a:lnTo>
                  <a:lnTo>
                    <a:pt x="0" y="1092962"/>
                  </a:lnTo>
                  <a:close/>
                </a:path>
              </a:pathLst>
            </a:custGeom>
            <a:blipFill>
              <a:blip r:embed="rId4"/>
              <a:stretch>
                <a:fillRect l="-23243" t="0" r="-2324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294809" y="4116033"/>
            <a:ext cx="5268897" cy="5142267"/>
            <a:chOff x="0" y="0"/>
            <a:chExt cx="1119877" cy="10929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19877" cy="1092962"/>
            </a:xfrm>
            <a:custGeom>
              <a:avLst/>
              <a:gdLst/>
              <a:ahLst/>
              <a:cxnLst/>
              <a:rect r="r" b="b" t="t" l="l"/>
              <a:pathLst>
                <a:path h="1092962" w="1119877">
                  <a:moveTo>
                    <a:pt x="0" y="0"/>
                  </a:moveTo>
                  <a:lnTo>
                    <a:pt x="1119877" y="0"/>
                  </a:lnTo>
                  <a:lnTo>
                    <a:pt x="1119877" y="1092962"/>
                  </a:lnTo>
                  <a:lnTo>
                    <a:pt x="0" y="1092962"/>
                  </a:lnTo>
                  <a:close/>
                </a:path>
              </a:pathLst>
            </a:custGeom>
            <a:blipFill>
              <a:blip r:embed="rId4"/>
              <a:stretch>
                <a:fillRect l="-23243" t="0" r="-2324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723775" y="7310479"/>
            <a:ext cx="1142068" cy="1102877"/>
            <a:chOff x="0" y="0"/>
            <a:chExt cx="300791" cy="2904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0791" cy="290470"/>
            </a:xfrm>
            <a:custGeom>
              <a:avLst/>
              <a:gdLst/>
              <a:ahLst/>
              <a:cxnLst/>
              <a:rect r="r" b="b" t="t" l="l"/>
              <a:pathLst>
                <a:path h="290470" w="300791">
                  <a:moveTo>
                    <a:pt x="0" y="0"/>
                  </a:moveTo>
                  <a:lnTo>
                    <a:pt x="300791" y="0"/>
                  </a:lnTo>
                  <a:lnTo>
                    <a:pt x="300791" y="290470"/>
                  </a:lnTo>
                  <a:lnTo>
                    <a:pt x="0" y="290470"/>
                  </a:lnTo>
                  <a:close/>
                </a:path>
              </a:pathLst>
            </a:custGeom>
            <a:solidFill>
              <a:srgbClr val="00B4F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300791" cy="37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26563" y="2191815"/>
            <a:ext cx="1142068" cy="1102877"/>
            <a:chOff x="0" y="0"/>
            <a:chExt cx="300791" cy="2904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00791" cy="290470"/>
            </a:xfrm>
            <a:custGeom>
              <a:avLst/>
              <a:gdLst/>
              <a:ahLst/>
              <a:cxnLst/>
              <a:rect r="r" b="b" t="t" l="l"/>
              <a:pathLst>
                <a:path h="290470" w="300791">
                  <a:moveTo>
                    <a:pt x="0" y="0"/>
                  </a:moveTo>
                  <a:lnTo>
                    <a:pt x="300791" y="0"/>
                  </a:lnTo>
                  <a:lnTo>
                    <a:pt x="300791" y="290470"/>
                  </a:lnTo>
                  <a:lnTo>
                    <a:pt x="0" y="290470"/>
                  </a:lnTo>
                  <a:close/>
                </a:path>
              </a:pathLst>
            </a:custGeom>
            <a:solidFill>
              <a:srgbClr val="00B4F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300791" cy="37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7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962576" y="7529684"/>
            <a:ext cx="664466" cy="664466"/>
          </a:xfrm>
          <a:custGeom>
            <a:avLst/>
            <a:gdLst/>
            <a:ahLst/>
            <a:cxnLst/>
            <a:rect r="r" b="b" t="t" l="l"/>
            <a:pathLst>
              <a:path h="664466" w="664466">
                <a:moveTo>
                  <a:pt x="0" y="0"/>
                </a:moveTo>
                <a:lnTo>
                  <a:pt x="664466" y="0"/>
                </a:lnTo>
                <a:lnTo>
                  <a:pt x="664466" y="664466"/>
                </a:lnTo>
                <a:lnTo>
                  <a:pt x="0" y="6644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897135" y="2356044"/>
            <a:ext cx="800924" cy="800924"/>
          </a:xfrm>
          <a:custGeom>
            <a:avLst/>
            <a:gdLst/>
            <a:ahLst/>
            <a:cxnLst/>
            <a:rect r="r" b="b" t="t" l="l"/>
            <a:pathLst>
              <a:path h="800924" w="800924">
                <a:moveTo>
                  <a:pt x="0" y="0"/>
                </a:moveTo>
                <a:lnTo>
                  <a:pt x="800924" y="0"/>
                </a:lnTo>
                <a:lnTo>
                  <a:pt x="800924" y="800924"/>
                </a:lnTo>
                <a:lnTo>
                  <a:pt x="0" y="8009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467602" y="3080768"/>
            <a:ext cx="4171790" cy="83502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5350"/>
              </a:lnSpc>
            </a:pPr>
            <a:r>
              <a:rPr sz="5000" b="1">
                <a:solidFill>
                  <a:srgbClr val="00B4F0"/>
                </a:solidFill>
                <a:latin typeface="Agrandir"/>
              </a:rPr>
              <a:t>System Benchmarks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67602" y="4227193"/>
            <a:ext cx="6512190" cy="126339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12"/>
              </a:lnSpc>
            </a:pPr>
            <a:r>
              <a:rPr sz="1700" b="0">
                <a:solidFill>
                  <a:srgbClr val="FFFFFF"/>
                </a:solidFill>
                <a:latin typeface="Agrandir"/>
              </a:rPr>
              <a:t>Achieved 0.982 ROC-AUC with 94.6% precision and 96.2% recall at 0.418ms scoring latency. False alarms reduced by 87% compared to legacy SQL rule systems.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67602" y="5866636"/>
            <a:ext cx="6512190" cy="126339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412"/>
              </a:lnSpc>
            </a:pPr>
            <a:r>
              <a:rPr sz="1700" b="0">
                <a:solidFill>
                  <a:srgbClr val="FFFFFF"/>
                </a:solidFill>
                <a:latin typeface="Agrandir"/>
              </a:rPr>
              <a:t>Reduces compliance triage investigation time from 4 hours down to under 2 minutes per alert, saving institutions millions in potential fines and protecting market integrity.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28700" y="8295474"/>
            <a:ext cx="320358" cy="962826"/>
          </a:xfrm>
          <a:custGeom>
            <a:avLst/>
            <a:gdLst/>
            <a:ahLst/>
            <a:cxnLst/>
            <a:rect r="r" b="b" t="t" l="l"/>
            <a:pathLst>
              <a:path h="962826" w="320358">
                <a:moveTo>
                  <a:pt x="0" y="0"/>
                </a:moveTo>
                <a:lnTo>
                  <a:pt x="320358" y="0"/>
                </a:lnTo>
                <a:lnTo>
                  <a:pt x="320358" y="962826"/>
                </a:lnTo>
                <a:lnTo>
                  <a:pt x="0" y="9628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true" rot="0">
            <a:off x="16938942" y="1028700"/>
            <a:ext cx="320358" cy="962826"/>
          </a:xfrm>
          <a:custGeom>
            <a:avLst/>
            <a:gdLst/>
            <a:ahLst/>
            <a:cxnLst/>
            <a:rect r="r" b="b" t="t" l="l"/>
            <a:pathLst>
              <a:path h="962826" w="320358">
                <a:moveTo>
                  <a:pt x="320358" y="962826"/>
                </a:moveTo>
                <a:lnTo>
                  <a:pt x="0" y="962826"/>
                </a:lnTo>
                <a:lnTo>
                  <a:pt x="0" y="0"/>
                </a:lnTo>
                <a:lnTo>
                  <a:pt x="320358" y="0"/>
                </a:lnTo>
                <a:lnTo>
                  <a:pt x="320358" y="962826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77476" y="2903880"/>
            <a:ext cx="8733048" cy="4250641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14976"/>
              </a:lnSpc>
            </a:pPr>
            <a:r>
              <a:rPr sz="12000" b="1">
                <a:solidFill>
                  <a:srgbClr val="00B4F0"/>
                </a:solidFill>
                <a:latin typeface="Agrandir"/>
              </a:rPr>
              <a:t>THANK</a:t>
            </a:r>
          </a:p>
          <a:p>
            <a:pPr algn="ctr"/>
            <a:r>
              <a:rPr sz="12000" b="1">
                <a:solidFill>
                  <a:srgbClr val="00B4F0"/>
                </a:solidFill>
                <a:latin typeface="Agrandir"/>
              </a:rPr>
              <a:t>YOU.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52072" y="8778875"/>
            <a:ext cx="4183857" cy="47942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3349"/>
              </a:lnSpc>
            </a:pPr>
            <a:r>
              <a:rPr sz="2000" b="0">
                <a:solidFill>
                  <a:srgbClr val="FFFFFF"/>
                </a:solidFill>
                <a:latin typeface="Agrandir"/>
              </a:rPr>
              <a:t>FINRA AI Market Surveillance System | Real-Time Fraud Defense Engine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5400000">
            <a:off x="1349934" y="707466"/>
            <a:ext cx="320358" cy="962826"/>
          </a:xfrm>
          <a:custGeom>
            <a:avLst/>
            <a:gdLst/>
            <a:ahLst/>
            <a:cxnLst/>
            <a:rect r="r" b="b" t="t" l="l"/>
            <a:pathLst>
              <a:path h="962826" w="320358">
                <a:moveTo>
                  <a:pt x="0" y="0"/>
                </a:moveTo>
                <a:lnTo>
                  <a:pt x="320358" y="0"/>
                </a:lnTo>
                <a:lnTo>
                  <a:pt x="320358" y="962826"/>
                </a:lnTo>
                <a:lnTo>
                  <a:pt x="0" y="9628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5400000">
            <a:off x="16617708" y="8587367"/>
            <a:ext cx="320358" cy="962826"/>
          </a:xfrm>
          <a:custGeom>
            <a:avLst/>
            <a:gdLst/>
            <a:ahLst/>
            <a:cxnLst/>
            <a:rect r="r" b="b" t="t" l="l"/>
            <a:pathLst>
              <a:path h="962826" w="320358">
                <a:moveTo>
                  <a:pt x="320358" y="962826"/>
                </a:moveTo>
                <a:lnTo>
                  <a:pt x="0" y="962826"/>
                </a:lnTo>
                <a:lnTo>
                  <a:pt x="0" y="0"/>
                </a:lnTo>
                <a:lnTo>
                  <a:pt x="320358" y="0"/>
                </a:lnTo>
                <a:lnTo>
                  <a:pt x="320358" y="96282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3850612" y="5825329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3" y="0"/>
                </a:lnTo>
                <a:lnTo>
                  <a:pt x="8513313" y="8513314"/>
                </a:lnTo>
                <a:lnTo>
                  <a:pt x="0" y="85133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625299" y="-4051643"/>
            <a:ext cx="8513313" cy="8513313"/>
          </a:xfrm>
          <a:custGeom>
            <a:avLst/>
            <a:gdLst/>
            <a:ahLst/>
            <a:cxnLst/>
            <a:rect r="r" b="b" t="t" l="l"/>
            <a:pathLst>
              <a:path h="8513313" w="8513313">
                <a:moveTo>
                  <a:pt x="0" y="0"/>
                </a:moveTo>
                <a:lnTo>
                  <a:pt x="8513313" y="0"/>
                </a:lnTo>
                <a:lnTo>
                  <a:pt x="8513313" y="8513314"/>
                </a:lnTo>
                <a:lnTo>
                  <a:pt x="0" y="85133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DAHUyA56HyM</dc:identifier>
  <dcterms:modified xsi:type="dcterms:W3CDTF">2011-08-01T06:04:30Z</dcterms:modified>
  <cp:revision>1</cp:revision>
  <dc:title>Red and Black Modern Bold Black Gradient Geometric Shape Stock Market Presentation</dc:title>
</cp:coreProperties>
</file>